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0" r:id="rId3"/>
    <p:sldId id="259" r:id="rId4"/>
    <p:sldId id="257" r:id="rId5"/>
    <p:sldId id="262" r:id="rId6"/>
    <p:sldId id="263" r:id="rId7"/>
    <p:sldId id="267" r:id="rId8"/>
    <p:sldId id="268" r:id="rId9"/>
    <p:sldId id="299" r:id="rId10"/>
    <p:sldId id="269" r:id="rId11"/>
    <p:sldId id="270" r:id="rId12"/>
    <p:sldId id="272" r:id="rId13"/>
    <p:sldId id="273" r:id="rId14"/>
    <p:sldId id="274" r:id="rId15"/>
    <p:sldId id="275" r:id="rId16"/>
    <p:sldId id="300" r:id="rId17"/>
    <p:sldId id="277" r:id="rId18"/>
    <p:sldId id="304" r:id="rId19"/>
    <p:sldId id="278" r:id="rId20"/>
    <p:sldId id="302" r:id="rId21"/>
    <p:sldId id="303" r:id="rId22"/>
    <p:sldId id="280" r:id="rId2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DDDDDD"/>
    <a:srgbClr val="5F5F5F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5307" autoAdjust="0"/>
  </p:normalViewPr>
  <p:slideViewPr>
    <p:cSldViewPr>
      <p:cViewPr varScale="1">
        <p:scale>
          <a:sx n="73" d="100"/>
          <a:sy n="73" d="100"/>
        </p:scale>
        <p:origin x="54" y="3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폐업 위험 요인 </a:t>
            </a:r>
            <a:r>
              <a:rPr lang="en-US" altLang="ko-KR" dirty="0"/>
              <a:t>TOP5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1180612847392047"/>
          <c:y val="0.12233211599827043"/>
          <c:w val="0.64481039244492611"/>
          <c:h val="0.74836154353090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기여도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최근 3개월 동일 업종 내
매출 순위 비율 평균</c:v>
                </c:pt>
                <c:pt idx="1">
                  <c:v>역세권 점수</c:v>
                </c:pt>
                <c:pt idx="2">
                  <c:v>최근 6개월 동일 업종 내
매출금액 비율 평균</c:v>
                </c:pt>
                <c:pt idx="3">
                  <c:v>최근 6개월 동일 업종 내 
매출 순위 비율 표준편차</c:v>
                </c:pt>
                <c:pt idx="4">
                  <c:v>영업 개월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0.115907</c:v>
                </c:pt>
                <c:pt idx="1">
                  <c:v>0.122498</c:v>
                </c:pt>
                <c:pt idx="2">
                  <c:v>0.182643</c:v>
                </c:pt>
                <c:pt idx="3">
                  <c:v>0.19609099999999999</c:v>
                </c:pt>
                <c:pt idx="4">
                  <c:v>0.359483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03-40E6-A172-BB3896B66D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열1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최근 3개월 동일 업종 내
매출 순위 비율 평균</c:v>
                </c:pt>
                <c:pt idx="1">
                  <c:v>역세권 점수</c:v>
                </c:pt>
                <c:pt idx="2">
                  <c:v>최근 6개월 동일 업종 내
매출금액 비율 평균</c:v>
                </c:pt>
                <c:pt idx="3">
                  <c:v>최근 6개월 동일 업종 내 
매출 순위 비율 표준편차</c:v>
                </c:pt>
                <c:pt idx="4">
                  <c:v>영업 개월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6C03-40E6-A172-BB3896B66D5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열2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최근 3개월 동일 업종 내
매출 순위 비율 평균</c:v>
                </c:pt>
                <c:pt idx="1">
                  <c:v>역세권 점수</c:v>
                </c:pt>
                <c:pt idx="2">
                  <c:v>최근 6개월 동일 업종 내
매출금액 비율 평균</c:v>
                </c:pt>
                <c:pt idx="3">
                  <c:v>최근 6개월 동일 업종 내 
매출 순위 비율 표준편차</c:v>
                </c:pt>
                <c:pt idx="4">
                  <c:v>영업 개월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6C03-40E6-A172-BB3896B66D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31506912"/>
        <c:axId val="631507392"/>
      </c:barChart>
      <c:catAx>
        <c:axId val="6315069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1507392"/>
        <c:crosses val="autoZero"/>
        <c:auto val="1"/>
        <c:lblAlgn val="ctr"/>
        <c:lblOffset val="100"/>
        <c:noMultiLvlLbl val="0"/>
      </c:catAx>
      <c:valAx>
        <c:axId val="6315073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31506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264BD6-8C57-477C-A044-A1FFD3CF2640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332766-D080-41CB-B12D-1BA991C880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785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332766-D080-41CB-B12D-1BA991C880E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508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73748" y="3590985"/>
            <a:ext cx="16740503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우리동네가맹점</a:t>
            </a:r>
            <a:r>
              <a:rPr lang="en-US" sz="72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72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위기신호를</a:t>
            </a:r>
            <a:r>
              <a:rPr lang="en-US" sz="72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72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미리잡아라</a:t>
            </a:r>
            <a:r>
              <a:rPr lang="en-US" sz="72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!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6151524"/>
            <a:ext cx="182880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2025 </a:t>
            </a:r>
            <a:r>
              <a:rPr lang="en-US" sz="42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빅콘테스트</a:t>
            </a:r>
            <a:r>
              <a:rPr lang="en-US" sz="42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2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AI데이터</a:t>
            </a:r>
            <a:r>
              <a:rPr lang="en-US" sz="42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2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분석분야</a:t>
            </a:r>
            <a:endParaRPr lang="en-US" sz="4200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868400" y="8391001"/>
            <a:ext cx="3832259" cy="1222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8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데이터</a:t>
            </a:r>
            <a:r>
              <a:rPr lang="en-US" sz="2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맛집</a:t>
            </a:r>
            <a:r>
              <a:rPr lang="en-US" sz="2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TEAM</a:t>
            </a:r>
          </a:p>
          <a:p>
            <a:pPr algn="r">
              <a:lnSpc>
                <a:spcPct val="150000"/>
              </a:lnSpc>
            </a:pPr>
            <a:r>
              <a:rPr lang="en-US" sz="28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이종석</a:t>
            </a:r>
            <a:r>
              <a:rPr lang="en-US" sz="2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추영재</a:t>
            </a:r>
            <a:r>
              <a:rPr lang="en-US" sz="2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홍성민</a:t>
            </a:r>
            <a:endParaRPr lang="en-US" sz="2800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4E50903D-5156-92A7-D172-4C3306317D20}"/>
              </a:ext>
            </a:extLst>
          </p:cNvPr>
          <p:cNvSpPr txBox="1"/>
          <p:nvPr/>
        </p:nvSpPr>
        <p:spPr>
          <a:xfrm>
            <a:off x="1860148" y="2095500"/>
            <a:ext cx="7467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해 마다 증가하는 폐업 가맹점 증가</a:t>
            </a:r>
            <a:endParaRPr lang="en-US" altLang="ko-KR" sz="3200" b="1" dirty="0">
              <a:solidFill>
                <a:srgbClr val="FF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/>
            <a:r>
              <a:rPr lang="ko-KR" altLang="en-US" sz="3200" b="1" dirty="0">
                <a:solidFill>
                  <a:srgbClr val="FF0000"/>
                </a:solidFill>
                <a:latin typeface="Arimo"/>
                <a:sym typeface="Arimo"/>
              </a:rPr>
              <a:t>그러나 폐업 대비 시스템 전무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2E7C080-4AF5-5C27-A70D-834BD81DC1CB}"/>
              </a:ext>
            </a:extLst>
          </p:cNvPr>
          <p:cNvGrpSpPr/>
          <p:nvPr/>
        </p:nvGrpSpPr>
        <p:grpSpPr>
          <a:xfrm>
            <a:off x="739709" y="3771900"/>
            <a:ext cx="11147491" cy="5486400"/>
            <a:chOff x="7750109" y="3467100"/>
            <a:chExt cx="11147491" cy="5486400"/>
          </a:xfrm>
        </p:grpSpPr>
        <p:sp>
          <p:nvSpPr>
            <p:cNvPr id="6" name="AutoShape 6"/>
            <p:cNvSpPr/>
            <p:nvPr/>
          </p:nvSpPr>
          <p:spPr>
            <a:xfrm rot="11912">
              <a:off x="7750109" y="7820168"/>
              <a:ext cx="2748753" cy="0"/>
            </a:xfrm>
            <a:prstGeom prst="line">
              <a:avLst/>
            </a:prstGeom>
            <a:ln w="9525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70FC99A3-69C6-813D-FEA4-26331EF97BC8}"/>
                </a:ext>
              </a:extLst>
            </p:cNvPr>
            <p:cNvGrpSpPr/>
            <p:nvPr/>
          </p:nvGrpSpPr>
          <p:grpSpPr>
            <a:xfrm>
              <a:off x="8870548" y="3467100"/>
              <a:ext cx="7467600" cy="5132901"/>
              <a:chOff x="8824732" y="3466168"/>
              <a:chExt cx="7467600" cy="5132901"/>
            </a:xfrm>
          </p:grpSpPr>
          <p:sp>
            <p:nvSpPr>
              <p:cNvPr id="7" name="AutoShape 7"/>
              <p:cNvSpPr/>
              <p:nvPr/>
            </p:nvSpPr>
            <p:spPr>
              <a:xfrm rot="11912">
                <a:off x="13417936" y="7820168"/>
                <a:ext cx="2748753" cy="0"/>
              </a:xfrm>
              <a:prstGeom prst="line">
                <a:avLst/>
              </a:prstGeom>
              <a:ln w="9525" cap="rnd">
                <a:solidFill>
                  <a:srgbClr val="FFFFFF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2" name="사각형: 잘린 한쪽 모서리 21">
                <a:extLst>
                  <a:ext uri="{FF2B5EF4-FFF2-40B4-BE49-F238E27FC236}">
                    <a16:creationId xmlns:a16="http://schemas.microsoft.com/office/drawing/2014/main" id="{952AE4B0-8B39-E2DE-A5F6-DB4146EC9728}"/>
                  </a:ext>
                </a:extLst>
              </p:cNvPr>
              <p:cNvSpPr/>
              <p:nvPr/>
            </p:nvSpPr>
            <p:spPr>
              <a:xfrm flipH="1">
                <a:off x="8824732" y="3466168"/>
                <a:ext cx="7467600" cy="895348"/>
              </a:xfrm>
              <a:prstGeom prst="snip1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사각형: 잘린 한쪽 모서리 22">
                <a:extLst>
                  <a:ext uri="{FF2B5EF4-FFF2-40B4-BE49-F238E27FC236}">
                    <a16:creationId xmlns:a16="http://schemas.microsoft.com/office/drawing/2014/main" id="{A55153BA-9714-9FF6-C5DC-FEB9D6E860D4}"/>
                  </a:ext>
                </a:extLst>
              </p:cNvPr>
              <p:cNvSpPr/>
              <p:nvPr/>
            </p:nvSpPr>
            <p:spPr>
              <a:xfrm flipH="1">
                <a:off x="8824732" y="4875105"/>
                <a:ext cx="7467600" cy="895348"/>
              </a:xfrm>
              <a:prstGeom prst="snip1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2200" dirty="0">
                  <a:solidFill>
                    <a:schemeClr val="tx1"/>
                  </a:solidFill>
                  <a:latin typeface="Arimo"/>
                </a:endParaRPr>
              </a:p>
            </p:txBody>
          </p:sp>
          <p:sp>
            <p:nvSpPr>
              <p:cNvPr id="24" name="사각형: 잘린 한쪽 모서리 23">
                <a:extLst>
                  <a:ext uri="{FF2B5EF4-FFF2-40B4-BE49-F238E27FC236}">
                    <a16:creationId xmlns:a16="http://schemas.microsoft.com/office/drawing/2014/main" id="{9C383E8C-1989-15EF-BF39-A00E01233682}"/>
                  </a:ext>
                </a:extLst>
              </p:cNvPr>
              <p:cNvSpPr/>
              <p:nvPr/>
            </p:nvSpPr>
            <p:spPr>
              <a:xfrm flipH="1">
                <a:off x="8824732" y="6289413"/>
                <a:ext cx="7467600" cy="895348"/>
              </a:xfrm>
              <a:prstGeom prst="snip1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5" name="사각형: 잘린 한쪽 모서리 24">
                <a:extLst>
                  <a:ext uri="{FF2B5EF4-FFF2-40B4-BE49-F238E27FC236}">
                    <a16:creationId xmlns:a16="http://schemas.microsoft.com/office/drawing/2014/main" id="{845F3AE2-A7CF-71C9-9E9F-AA75B8D98909}"/>
                  </a:ext>
                </a:extLst>
              </p:cNvPr>
              <p:cNvSpPr/>
              <p:nvPr/>
            </p:nvSpPr>
            <p:spPr>
              <a:xfrm flipH="1">
                <a:off x="8824732" y="7703721"/>
                <a:ext cx="7467600" cy="895348"/>
              </a:xfrm>
              <a:prstGeom prst="snip1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3B5092C-3C3D-C3D1-0131-6DFEF52CF2AA}"/>
                </a:ext>
              </a:extLst>
            </p:cNvPr>
            <p:cNvSpPr txBox="1"/>
            <p:nvPr/>
          </p:nvSpPr>
          <p:spPr>
            <a:xfrm>
              <a:off x="8879712" y="4876037"/>
              <a:ext cx="10017888" cy="12311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400" dirty="0" err="1">
                  <a:latin typeface="Arimo"/>
                </a:rPr>
                <a:t>이데일리</a:t>
              </a:r>
              <a:r>
                <a:rPr lang="ko-KR" altLang="en-US" sz="1400" dirty="0">
                  <a:latin typeface="Arimo"/>
                </a:rPr>
                <a:t> </a:t>
              </a:r>
              <a:r>
                <a:rPr lang="en-US" altLang="ko-KR" sz="1400" dirty="0">
                  <a:latin typeface="Arimo"/>
                </a:rPr>
                <a:t>25.7.12</a:t>
              </a:r>
              <a:endParaRPr lang="en-US" altLang="ko-KR" sz="1400" dirty="0">
                <a:solidFill>
                  <a:schemeClr val="tx1"/>
                </a:solidFill>
                <a:latin typeface="Arimo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solidFill>
                    <a:schemeClr val="tx1"/>
                  </a:solidFill>
                  <a:latin typeface="Arimo"/>
                </a:rPr>
                <a:t>창업 뛰어든 청년 사장님</a:t>
              </a:r>
              <a:r>
                <a:rPr lang="en-US" altLang="ko-KR" sz="2000" dirty="0">
                  <a:solidFill>
                    <a:schemeClr val="tx1"/>
                  </a:solidFill>
                  <a:latin typeface="Arimo"/>
                </a:rPr>
                <a:t>,</a:t>
              </a:r>
              <a:r>
                <a:rPr lang="ko-KR" altLang="en-US" sz="2000" dirty="0">
                  <a:solidFill>
                    <a:schemeClr val="tx1"/>
                  </a:solidFill>
                  <a:latin typeface="Arimo"/>
                </a:rPr>
                <a:t> </a:t>
              </a:r>
              <a:r>
                <a:rPr lang="en-US" altLang="ko-KR" sz="2000" dirty="0">
                  <a:solidFill>
                    <a:schemeClr val="tx1"/>
                  </a:solidFill>
                  <a:latin typeface="Arimo"/>
                </a:rPr>
                <a:t>5</a:t>
              </a:r>
              <a:r>
                <a:rPr lang="ko-KR" altLang="en-US" sz="2000" dirty="0">
                  <a:solidFill>
                    <a:schemeClr val="tx1"/>
                  </a:solidFill>
                  <a:latin typeface="Arimo"/>
                </a:rPr>
                <a:t>년도 안되어 무너졌다</a:t>
              </a:r>
              <a:endParaRPr lang="en-US" altLang="ko-KR" sz="2000" dirty="0">
                <a:solidFill>
                  <a:schemeClr val="tx1"/>
                </a:solidFill>
                <a:latin typeface="Arimo"/>
              </a:endParaRPr>
            </a:p>
            <a:p>
              <a:endParaRPr lang="ko-KR" altLang="en-US" sz="2000" dirty="0">
                <a:solidFill>
                  <a:schemeClr val="tx1"/>
                </a:solidFill>
                <a:latin typeface="Arimo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6DC84AF-BAF0-B2D3-1F35-C1D72008765D}"/>
                </a:ext>
              </a:extLst>
            </p:cNvPr>
            <p:cNvSpPr txBox="1"/>
            <p:nvPr/>
          </p:nvSpPr>
          <p:spPr>
            <a:xfrm>
              <a:off x="8879712" y="3467100"/>
              <a:ext cx="10017888" cy="826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400" dirty="0" err="1">
                  <a:latin typeface="Arimo"/>
                </a:rPr>
                <a:t>해럴드경제</a:t>
              </a:r>
              <a:r>
                <a:rPr lang="ko-KR" altLang="en-US" sz="1400" dirty="0">
                  <a:latin typeface="Arimo"/>
                </a:rPr>
                <a:t> </a:t>
              </a:r>
              <a:r>
                <a:rPr lang="en-US" altLang="ko-KR" sz="1400" dirty="0">
                  <a:latin typeface="Arimo"/>
                </a:rPr>
                <a:t>25.3.11</a:t>
              </a:r>
              <a:endParaRPr lang="en-US" altLang="ko-KR" sz="1400" dirty="0">
                <a:solidFill>
                  <a:schemeClr val="tx1"/>
                </a:solidFill>
                <a:latin typeface="Arimo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solidFill>
                    <a:schemeClr val="tx1"/>
                  </a:solidFill>
                  <a:latin typeface="Arimo"/>
                </a:rPr>
                <a:t>프랜차이즈 가맹점도 무너진다</a:t>
              </a:r>
              <a:r>
                <a:rPr lang="en-US" altLang="ko-KR" sz="2000" dirty="0">
                  <a:solidFill>
                    <a:schemeClr val="tx1"/>
                  </a:solidFill>
                  <a:latin typeface="Arimo"/>
                </a:rPr>
                <a:t>.. </a:t>
              </a:r>
              <a:r>
                <a:rPr lang="ko-KR" altLang="en-US" sz="2000" dirty="0">
                  <a:solidFill>
                    <a:schemeClr val="tx1"/>
                  </a:solidFill>
                  <a:latin typeface="Arimo"/>
                </a:rPr>
                <a:t>외식업계 </a:t>
              </a:r>
              <a:r>
                <a:rPr lang="en-US" altLang="ko-KR" sz="2000" dirty="0">
                  <a:solidFill>
                    <a:schemeClr val="tx1"/>
                  </a:solidFill>
                  <a:latin typeface="Arimo"/>
                </a:rPr>
                <a:t>‘</a:t>
              </a:r>
              <a:r>
                <a:rPr lang="ko-KR" altLang="en-US" sz="2000" dirty="0">
                  <a:solidFill>
                    <a:schemeClr val="tx1"/>
                  </a:solidFill>
                  <a:latin typeface="Arimo"/>
                </a:rPr>
                <a:t>불황의 늪</a:t>
              </a:r>
              <a:r>
                <a:rPr lang="en-US" altLang="ko-KR" sz="2000" dirty="0">
                  <a:solidFill>
                    <a:schemeClr val="tx1"/>
                  </a:solidFill>
                  <a:latin typeface="Arimo"/>
                </a:rPr>
                <a:t>’</a:t>
              </a:r>
              <a:endParaRPr lang="ko-KR" altLang="en-US" sz="2000" dirty="0">
                <a:solidFill>
                  <a:schemeClr val="tx1"/>
                </a:solidFill>
                <a:latin typeface="Arimo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F80CE7F-3EED-E70E-2803-03FBC82D9F10}"/>
                </a:ext>
              </a:extLst>
            </p:cNvPr>
            <p:cNvSpPr txBox="1"/>
            <p:nvPr/>
          </p:nvSpPr>
          <p:spPr>
            <a:xfrm>
              <a:off x="8879712" y="6286500"/>
              <a:ext cx="10017888" cy="12311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400" dirty="0" err="1">
                  <a:latin typeface="Arimo"/>
                </a:rPr>
                <a:t>식품외식경제</a:t>
              </a:r>
              <a:r>
                <a:rPr lang="ko-KR" altLang="en-US" sz="1400" dirty="0">
                  <a:latin typeface="Arimo"/>
                </a:rPr>
                <a:t> </a:t>
              </a:r>
              <a:r>
                <a:rPr lang="en-US" altLang="ko-KR" sz="1400" dirty="0">
                  <a:latin typeface="Arimo"/>
                </a:rPr>
                <a:t>25.7.10</a:t>
              </a:r>
              <a:endParaRPr lang="en-US" altLang="ko-KR" sz="1400" dirty="0">
                <a:solidFill>
                  <a:schemeClr val="tx1"/>
                </a:solidFill>
                <a:latin typeface="Arimo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Arimo"/>
                </a:rPr>
                <a:t>지난해 </a:t>
              </a:r>
              <a:r>
                <a:rPr lang="ko-KR" altLang="en-US" sz="2000" dirty="0" err="1">
                  <a:latin typeface="Arimo"/>
                </a:rPr>
                <a:t>폐업자</a:t>
              </a:r>
              <a:r>
                <a:rPr lang="ko-KR" altLang="en-US" sz="2000" dirty="0">
                  <a:latin typeface="Arimo"/>
                </a:rPr>
                <a:t> </a:t>
              </a:r>
              <a:r>
                <a:rPr lang="en-US" altLang="ko-KR" sz="2000" dirty="0">
                  <a:latin typeface="Arimo"/>
                </a:rPr>
                <a:t>100</a:t>
              </a:r>
              <a:r>
                <a:rPr lang="ko-KR" altLang="en-US" sz="2000" dirty="0">
                  <a:latin typeface="Arimo"/>
                </a:rPr>
                <a:t>만명 돌파</a:t>
              </a:r>
              <a:r>
                <a:rPr lang="en-US" altLang="ko-KR" sz="2000" dirty="0">
                  <a:latin typeface="Arimo"/>
                </a:rPr>
                <a:t>… </a:t>
              </a:r>
              <a:r>
                <a:rPr lang="ko-KR" altLang="en-US" sz="2000" dirty="0">
                  <a:latin typeface="Arimo"/>
                </a:rPr>
                <a:t>사업부진 폐업 </a:t>
              </a:r>
              <a:r>
                <a:rPr lang="en-US" altLang="ko-KR" sz="2000" dirty="0">
                  <a:latin typeface="Arimo"/>
                </a:rPr>
                <a:t>50</a:t>
              </a:r>
              <a:r>
                <a:rPr lang="ko-KR" altLang="en-US" sz="2000" dirty="0">
                  <a:latin typeface="Arimo"/>
                </a:rPr>
                <a:t>만 </a:t>
              </a:r>
              <a:r>
                <a:rPr lang="en-US" altLang="ko-KR" sz="2000" dirty="0">
                  <a:latin typeface="Arimo"/>
                </a:rPr>
                <a:t>6000</a:t>
              </a:r>
              <a:r>
                <a:rPr lang="ko-KR" altLang="en-US" sz="2000" dirty="0">
                  <a:latin typeface="Arimo"/>
                </a:rPr>
                <a:t>명</a:t>
              </a:r>
              <a:endParaRPr lang="en-US" altLang="ko-KR" sz="2000" dirty="0">
                <a:solidFill>
                  <a:schemeClr val="tx1"/>
                </a:solidFill>
                <a:latin typeface="Arimo"/>
              </a:endParaRPr>
            </a:p>
            <a:p>
              <a:endParaRPr lang="ko-KR" altLang="en-US" sz="2000" dirty="0">
                <a:solidFill>
                  <a:schemeClr val="tx1"/>
                </a:solidFill>
                <a:latin typeface="Arimo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9CBDD85-AFFA-0C98-FB54-C3025D77A1B5}"/>
                </a:ext>
              </a:extLst>
            </p:cNvPr>
            <p:cNvSpPr txBox="1"/>
            <p:nvPr/>
          </p:nvSpPr>
          <p:spPr>
            <a:xfrm>
              <a:off x="8870548" y="7722394"/>
              <a:ext cx="10017888" cy="12311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400" dirty="0">
                  <a:latin typeface="Arimo"/>
                </a:rPr>
                <a:t>브런치 </a:t>
              </a:r>
              <a:r>
                <a:rPr lang="en-US" altLang="ko-KR" sz="1400" dirty="0">
                  <a:latin typeface="Arimo"/>
                </a:rPr>
                <a:t>25.7.31</a:t>
              </a:r>
              <a:endParaRPr lang="en-US" altLang="ko-KR" sz="1400" dirty="0">
                <a:solidFill>
                  <a:schemeClr val="tx1"/>
                </a:solidFill>
                <a:latin typeface="Arimo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2000" dirty="0">
                  <a:latin typeface="Arimo"/>
                </a:rPr>
                <a:t>“</a:t>
              </a:r>
              <a:r>
                <a:rPr lang="ko-KR" altLang="en-US" sz="2000" dirty="0">
                  <a:latin typeface="Arimo"/>
                </a:rPr>
                <a:t>또 뜨고</a:t>
              </a:r>
              <a:r>
                <a:rPr lang="en-US" altLang="ko-KR" sz="2000" dirty="0">
                  <a:latin typeface="Arimo"/>
                </a:rPr>
                <a:t>, </a:t>
              </a:r>
              <a:r>
                <a:rPr lang="ko-KR" altLang="en-US" sz="2000" dirty="0">
                  <a:latin typeface="Arimo"/>
                </a:rPr>
                <a:t>또 망하네</a:t>
              </a:r>
              <a:r>
                <a:rPr lang="en-US" altLang="ko-KR" sz="2000" dirty="0">
                  <a:latin typeface="Arimo"/>
                </a:rPr>
                <a:t>?” </a:t>
              </a:r>
              <a:r>
                <a:rPr lang="ko-KR" altLang="en-US" sz="2000" dirty="0">
                  <a:latin typeface="Arimo"/>
                </a:rPr>
                <a:t>유행 끝나면 남는 건 폐업뿐</a:t>
              </a:r>
              <a:endParaRPr lang="en-US" altLang="ko-KR" sz="2000" dirty="0">
                <a:solidFill>
                  <a:schemeClr val="tx1"/>
                </a:solidFill>
                <a:latin typeface="Arimo"/>
              </a:endParaRPr>
            </a:p>
            <a:p>
              <a:endParaRPr lang="ko-KR" altLang="en-US" sz="2000" dirty="0">
                <a:solidFill>
                  <a:schemeClr val="tx1"/>
                </a:solidFill>
                <a:latin typeface="Arimo"/>
              </a:endParaRPr>
            </a:p>
          </p:txBody>
        </p:sp>
      </p:grpSp>
      <p:sp>
        <p:nvSpPr>
          <p:cNvPr id="2" name="TextBox 2"/>
          <p:cNvSpPr txBox="1"/>
          <p:nvPr/>
        </p:nvSpPr>
        <p:spPr>
          <a:xfrm>
            <a:off x="15072282" y="9930004"/>
            <a:ext cx="3109370" cy="27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ⓒSaebyeol Yu. Saebyeol’s PowerPoint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42950" y="628650"/>
            <a:ext cx="1479551" cy="651392"/>
            <a:chOff x="0" y="0"/>
            <a:chExt cx="1972734" cy="8685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4739456" y="9745594"/>
            <a:ext cx="3548544" cy="553989"/>
            <a:chOff x="0" y="0"/>
            <a:chExt cx="4731392" cy="7386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31385" cy="738632"/>
            </a:xfrm>
            <a:custGeom>
              <a:avLst/>
              <a:gdLst/>
              <a:ahLst/>
              <a:cxnLst/>
              <a:rect l="l" t="t" r="r" b="b"/>
              <a:pathLst>
                <a:path w="4731385" h="738632">
                  <a:moveTo>
                    <a:pt x="0" y="0"/>
                  </a:moveTo>
                  <a:lnTo>
                    <a:pt x="4731385" y="0"/>
                  </a:lnTo>
                  <a:lnTo>
                    <a:pt x="4731385" y="738632"/>
                  </a:lnTo>
                  <a:lnTo>
                    <a:pt x="0" y="73863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Freeform 10"/>
          <p:cNvSpPr>
            <a:spLocks noChangeAspect="1"/>
          </p:cNvSpPr>
          <p:nvPr/>
        </p:nvSpPr>
        <p:spPr>
          <a:xfrm>
            <a:off x="10515600" y="2020365"/>
            <a:ext cx="6632743" cy="7308808"/>
          </a:xfrm>
          <a:custGeom>
            <a:avLst/>
            <a:gdLst/>
            <a:ahLst/>
            <a:cxnLst/>
            <a:rect l="l" t="t" r="r" b="b"/>
            <a:pathLst>
              <a:path w="7065142" h="7785281">
                <a:moveTo>
                  <a:pt x="0" y="0"/>
                </a:moveTo>
                <a:lnTo>
                  <a:pt x="7065142" y="0"/>
                </a:lnTo>
                <a:lnTo>
                  <a:pt x="7065142" y="7785280"/>
                </a:lnTo>
                <a:lnTo>
                  <a:pt x="0" y="7785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TextBox 12"/>
          <p:cNvSpPr txBox="1"/>
          <p:nvPr/>
        </p:nvSpPr>
        <p:spPr>
          <a:xfrm>
            <a:off x="1079799" y="759708"/>
            <a:ext cx="80585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37149" y="680932"/>
            <a:ext cx="4005986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분석</a:t>
            </a:r>
            <a:r>
              <a:rPr lang="en-US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배경</a:t>
            </a:r>
            <a:endParaRPr lang="en-US" sz="3000" b="1" spc="900" dirty="0">
              <a:solidFill>
                <a:srgbClr val="262626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7E781E-3705-5BD1-51A3-7E23269C2B2B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개요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데이터 분석 및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</a:rPr>
              <a:t>전처리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조기 경보 시스템   결론 및 의의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72282" y="9930004"/>
            <a:ext cx="3109370" cy="27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ⓒSaebyeol Yu. Saebyeol’s PowerPoint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42950" y="628650"/>
            <a:ext cx="1479551" cy="651392"/>
            <a:chOff x="0" y="0"/>
            <a:chExt cx="1972734" cy="8685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079799" y="759708"/>
            <a:ext cx="80585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37149" y="680932"/>
            <a:ext cx="4005986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ko-KR" altLang="en-US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프로젝트 목표 </a:t>
            </a:r>
            <a:endParaRPr lang="en-US" sz="3000" b="1" spc="900" dirty="0">
              <a:solidFill>
                <a:srgbClr val="262626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36340" y="5092292"/>
            <a:ext cx="5240655" cy="3631113"/>
            <a:chOff x="0" y="-19049"/>
            <a:chExt cx="6987540" cy="5420359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6987540" cy="5401310"/>
            </a:xfrm>
            <a:custGeom>
              <a:avLst/>
              <a:gdLst/>
              <a:ahLst/>
              <a:cxnLst/>
              <a:rect l="l" t="t" r="r" b="b"/>
              <a:pathLst>
                <a:path w="6987540" h="5401310">
                  <a:moveTo>
                    <a:pt x="0" y="0"/>
                  </a:moveTo>
                  <a:lnTo>
                    <a:pt x="6987540" y="0"/>
                  </a:lnTo>
                  <a:lnTo>
                    <a:pt x="6987540" y="5401310"/>
                  </a:lnTo>
                  <a:lnTo>
                    <a:pt x="0" y="5401310"/>
                  </a:lnTo>
                  <a:close/>
                </a:path>
              </a:pathLst>
            </a:custGeom>
            <a:grpFill/>
          </p:spPr>
        </p:sp>
        <p:sp>
          <p:nvSpPr>
            <p:cNvPr id="9" name="TextBox 9"/>
            <p:cNvSpPr txBox="1"/>
            <p:nvPr/>
          </p:nvSpPr>
          <p:spPr>
            <a:xfrm>
              <a:off x="0" y="-19049"/>
              <a:ext cx="6987512" cy="54203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457200" indent="-457200">
                <a:lnSpc>
                  <a:spcPts val="3240"/>
                </a:lnSpc>
                <a:buSzPct val="60000"/>
                <a:buFont typeface="Arial" panose="020B0604020202020204" pitchFamily="34" charset="0"/>
                <a:buChar char="•"/>
              </a:pPr>
              <a:r>
                <a:rPr lang="ko-KR" altLang="en-US" sz="2400" dirty="0">
                  <a:latin typeface="Arimo"/>
                  <a:ea typeface="Arimo"/>
                  <a:cs typeface="Arimo"/>
                  <a:sym typeface="Arimo"/>
                </a:rPr>
                <a:t>가맹점 매출</a:t>
              </a:r>
              <a:r>
                <a:rPr lang="en-US" altLang="ko-KR" sz="2400" dirty="0">
                  <a:latin typeface="Arimo"/>
                  <a:ea typeface="Arimo"/>
                  <a:cs typeface="Arimo"/>
                  <a:sym typeface="Arimo"/>
                </a:rPr>
                <a:t>, </a:t>
              </a:r>
              <a:r>
                <a:rPr lang="ko-KR" altLang="en-US" sz="2400" dirty="0">
                  <a:latin typeface="Arimo"/>
                  <a:ea typeface="Arimo"/>
                  <a:cs typeface="Arimo"/>
                  <a:sym typeface="Arimo"/>
                </a:rPr>
                <a:t>고객</a:t>
              </a:r>
              <a:r>
                <a:rPr lang="en-US" altLang="ko-KR" sz="2400" dirty="0">
                  <a:latin typeface="Arimo"/>
                  <a:ea typeface="Arimo"/>
                  <a:cs typeface="Arimo"/>
                  <a:sym typeface="Arimo"/>
                </a:rPr>
                <a:t>, </a:t>
              </a:r>
              <a:r>
                <a:rPr lang="ko-KR" altLang="en-US" sz="2400" dirty="0">
                  <a:latin typeface="Arimo"/>
                  <a:ea typeface="Arimo"/>
                  <a:cs typeface="Arimo"/>
                  <a:sym typeface="Arimo"/>
                </a:rPr>
                <a:t>상권 정보 통합 데이터셋</a:t>
              </a:r>
              <a:endParaRPr lang="en-US" altLang="ko-KR" sz="2400" dirty="0">
                <a:latin typeface="Arimo"/>
                <a:ea typeface="Arimo"/>
                <a:cs typeface="Arimo"/>
                <a:sym typeface="Arimo"/>
              </a:endParaRPr>
            </a:p>
            <a:p>
              <a:pPr marL="457200" indent="-457200">
                <a:lnSpc>
                  <a:spcPts val="3240"/>
                </a:lnSpc>
                <a:buSzPct val="60000"/>
                <a:buFont typeface="Arial" panose="020B0604020202020204" pitchFamily="34" charset="0"/>
                <a:buChar char="•"/>
              </a:pPr>
              <a:r>
                <a:rPr lang="ko-KR" altLang="en-US" sz="2400" dirty="0">
                  <a:latin typeface="Arimo"/>
                  <a:ea typeface="Arimo"/>
                  <a:cs typeface="Arimo"/>
                  <a:sym typeface="Arimo"/>
                </a:rPr>
                <a:t>서울 성동구 내 외식 업종 가맹점</a:t>
              </a:r>
              <a:endParaRPr lang="en-US" sz="2400" dirty="0"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504168" y="5106579"/>
            <a:ext cx="5240634" cy="3618321"/>
            <a:chOff x="0" y="0"/>
            <a:chExt cx="6987512" cy="5401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87540" cy="5401310"/>
            </a:xfrm>
            <a:custGeom>
              <a:avLst/>
              <a:gdLst/>
              <a:ahLst/>
              <a:cxnLst/>
              <a:rect l="l" t="t" r="r" b="b"/>
              <a:pathLst>
                <a:path w="6987540" h="5401310">
                  <a:moveTo>
                    <a:pt x="0" y="0"/>
                  </a:moveTo>
                  <a:lnTo>
                    <a:pt x="6987540" y="0"/>
                  </a:lnTo>
                  <a:lnTo>
                    <a:pt x="6987540" y="5401310"/>
                  </a:lnTo>
                  <a:lnTo>
                    <a:pt x="0" y="5401310"/>
                  </a:lnTo>
                  <a:close/>
                </a:path>
              </a:pathLst>
            </a:custGeom>
            <a:solidFill>
              <a:srgbClr val="DBE5F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987512" cy="5420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342900" indent="-342900">
                <a:lnSpc>
                  <a:spcPct val="150000"/>
                </a:lnSpc>
                <a:buSzPct val="60000"/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ML</a:t>
              </a:r>
              <a:r>
                <a:rPr lang="ko-KR" altLang="en-US" sz="2400" dirty="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을</a:t>
              </a:r>
              <a:r>
                <a:rPr lang="en-US" sz="2400" dirty="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ko-KR" altLang="en-US" sz="2400" dirty="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활용한 가맹점별 미래의 폐업 위험 평가</a:t>
              </a:r>
              <a:endParaRPr lang="en-US" altLang="ko-KR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marL="342900" indent="-342900">
                <a:lnSpc>
                  <a:spcPct val="150000"/>
                </a:lnSpc>
                <a:buSzPct val="60000"/>
                <a:buFont typeface="Arial" panose="020B0604020202020204" pitchFamily="34" charset="0"/>
                <a:buChar char="•"/>
              </a:pPr>
              <a:r>
                <a:rPr lang="ko-KR" altLang="en-US" sz="2400" dirty="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가맹점 별 폐업 위험 요인 도출 및 해석</a:t>
              </a:r>
              <a:endPara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71994" y="5106579"/>
            <a:ext cx="5240634" cy="3618321"/>
            <a:chOff x="0" y="0"/>
            <a:chExt cx="6987512" cy="5401264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87540" cy="5401310"/>
            </a:xfrm>
            <a:custGeom>
              <a:avLst/>
              <a:gdLst/>
              <a:ahLst/>
              <a:cxnLst/>
              <a:rect l="l" t="t" r="r" b="b"/>
              <a:pathLst>
                <a:path w="6987540" h="5401310">
                  <a:moveTo>
                    <a:pt x="0" y="0"/>
                  </a:moveTo>
                  <a:lnTo>
                    <a:pt x="6987540" y="0"/>
                  </a:lnTo>
                  <a:lnTo>
                    <a:pt x="6987540" y="5401310"/>
                  </a:lnTo>
                  <a:lnTo>
                    <a:pt x="0" y="5401310"/>
                  </a:lnTo>
                  <a:close/>
                </a:path>
              </a:pathLst>
            </a:custGeom>
            <a:grpFill/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987512" cy="542031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457200" indent="-457200">
                <a:lnSpc>
                  <a:spcPct val="150000"/>
                </a:lnSpc>
                <a:buSzPct val="60000"/>
                <a:buFont typeface="Arial" panose="020B0604020202020204" pitchFamily="34" charset="0"/>
                <a:buChar char="•"/>
              </a:pPr>
              <a:r>
                <a:rPr lang="ko-KR" altLang="en-US" sz="2400" dirty="0">
                  <a:latin typeface="Arimo"/>
                  <a:ea typeface="Arimo"/>
                  <a:cs typeface="Arimo"/>
                  <a:sym typeface="Arimo"/>
                </a:rPr>
                <a:t>조기 경보 </a:t>
              </a:r>
              <a:r>
                <a:rPr lang="en-US" altLang="ko-KR" sz="2400" dirty="0">
                  <a:latin typeface="Arimo"/>
                  <a:ea typeface="Arimo"/>
                  <a:cs typeface="Arimo"/>
                  <a:sym typeface="Arimo"/>
                </a:rPr>
                <a:t>AI Agent </a:t>
              </a:r>
              <a:r>
                <a:rPr lang="ko-KR" altLang="en-US" sz="2400" dirty="0">
                  <a:latin typeface="Arimo"/>
                  <a:ea typeface="Arimo"/>
                  <a:cs typeface="Arimo"/>
                  <a:sym typeface="Arimo"/>
                </a:rPr>
                <a:t>구축</a:t>
              </a:r>
              <a:endParaRPr lang="en-US" altLang="ko-KR" sz="2400" dirty="0">
                <a:latin typeface="Arimo"/>
                <a:ea typeface="Arimo"/>
                <a:cs typeface="Arimo"/>
                <a:sym typeface="Arimo"/>
              </a:endParaRPr>
            </a:p>
            <a:p>
              <a:pPr marL="457200" indent="-457200">
                <a:lnSpc>
                  <a:spcPct val="150000"/>
                </a:lnSpc>
                <a:buSzPct val="60000"/>
                <a:buFont typeface="Arial" panose="020B0604020202020204" pitchFamily="34" charset="0"/>
                <a:buChar char="•"/>
              </a:pPr>
              <a:r>
                <a:rPr lang="en-US" altLang="ko-KR" sz="2400" dirty="0">
                  <a:latin typeface="Arimo"/>
                  <a:ea typeface="Arimo"/>
                  <a:cs typeface="Arimo"/>
                  <a:sym typeface="Arimo"/>
                </a:rPr>
                <a:t>LLM </a:t>
              </a:r>
              <a:r>
                <a:rPr lang="ko-KR" altLang="en-US" sz="2400" dirty="0">
                  <a:latin typeface="Arimo"/>
                  <a:ea typeface="Arimo"/>
                  <a:cs typeface="Arimo"/>
                  <a:sym typeface="Arimo"/>
                </a:rPr>
                <a:t>기반 맞춤형 컨설팅 제공</a:t>
              </a:r>
              <a:endParaRPr lang="en-US" altLang="ko-KR" sz="2400" dirty="0">
                <a:latin typeface="Arimo"/>
                <a:ea typeface="Arimo"/>
                <a:cs typeface="Arimo"/>
                <a:sym typeface="Arimo"/>
              </a:endParaRPr>
            </a:p>
            <a:p>
              <a:pPr marL="457200" indent="-457200">
                <a:lnSpc>
                  <a:spcPct val="150000"/>
                </a:lnSpc>
                <a:buSzPct val="60000"/>
                <a:buFont typeface="Arial" panose="020B0604020202020204" pitchFamily="34" charset="0"/>
                <a:buChar char="•"/>
              </a:pPr>
              <a:r>
                <a:rPr lang="ko-KR" altLang="en-US" sz="2400" dirty="0">
                  <a:latin typeface="Arimo"/>
                  <a:ea typeface="Arimo"/>
                  <a:cs typeface="Arimo"/>
                  <a:sym typeface="Arimo"/>
                </a:rPr>
                <a:t>조기 경보 시스템 확장 방안 제시</a:t>
              </a:r>
              <a:endParaRPr lang="en-US" altLang="ko-KR" sz="2400" dirty="0">
                <a:latin typeface="Arimo"/>
                <a:ea typeface="Arimo"/>
                <a:cs typeface="Arimo"/>
                <a:sym typeface="Arimo"/>
              </a:endParaRPr>
            </a:p>
            <a:p>
              <a:pPr marL="457200" indent="-457200">
                <a:lnSpc>
                  <a:spcPts val="3240"/>
                </a:lnSpc>
                <a:buFont typeface="Arial" panose="020B0604020202020204" pitchFamily="34" charset="0"/>
                <a:buChar char="•"/>
              </a:pPr>
              <a:endParaRPr lang="en-US" sz="2700" dirty="0"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36319" y="4189431"/>
            <a:ext cx="5240655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 err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분석</a:t>
            </a:r>
            <a:r>
              <a:rPr lang="en-US" sz="2700" b="1" dirty="0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ko-KR" altLang="en-US" sz="2700" b="1" dirty="0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대상 및 범위</a:t>
            </a:r>
            <a:endParaRPr lang="en-US" sz="2700" b="1" dirty="0">
              <a:solidFill>
                <a:srgbClr val="40404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504147" y="4189431"/>
            <a:ext cx="5240655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 err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분석</a:t>
            </a:r>
            <a:r>
              <a:rPr lang="en-US" sz="2700" b="1" dirty="0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방법</a:t>
            </a:r>
            <a:endParaRPr lang="en-US" sz="2700" b="1" dirty="0">
              <a:solidFill>
                <a:srgbClr val="40404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171994" y="4189431"/>
            <a:ext cx="524063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ko-KR" altLang="en-US" sz="2700" b="1" dirty="0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솔루션 제시</a:t>
            </a:r>
            <a:endParaRPr lang="en-US" sz="2700" b="1" dirty="0">
              <a:solidFill>
                <a:srgbClr val="40404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9" name="AutoShape 19"/>
          <p:cNvSpPr/>
          <p:nvPr/>
        </p:nvSpPr>
        <p:spPr>
          <a:xfrm rot="11912">
            <a:off x="2082281" y="9550425"/>
            <a:ext cx="2748753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14739456" y="9745594"/>
            <a:ext cx="3548544" cy="553989"/>
            <a:chOff x="0" y="0"/>
            <a:chExt cx="4731392" cy="73865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31385" cy="738632"/>
            </a:xfrm>
            <a:custGeom>
              <a:avLst/>
              <a:gdLst/>
              <a:ahLst/>
              <a:cxnLst/>
              <a:rect l="l" t="t" r="r" b="b"/>
              <a:pathLst>
                <a:path w="4731385" h="738632">
                  <a:moveTo>
                    <a:pt x="0" y="0"/>
                  </a:moveTo>
                  <a:lnTo>
                    <a:pt x="4731385" y="0"/>
                  </a:lnTo>
                  <a:lnTo>
                    <a:pt x="4731385" y="738632"/>
                  </a:lnTo>
                  <a:lnTo>
                    <a:pt x="0" y="73863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AFD9F26-CF7B-5702-C608-20C83CD72A5B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개요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데이터 분석 및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</a:rPr>
              <a:t>전처리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조기 경보 시스템   결론 및 의의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87C06F-F264-E57E-4AEC-A86297CA2722}"/>
              </a:ext>
            </a:extLst>
          </p:cNvPr>
          <p:cNvSpPr txBox="1"/>
          <p:nvPr/>
        </p:nvSpPr>
        <p:spPr>
          <a:xfrm>
            <a:off x="1506658" y="1923781"/>
            <a:ext cx="10017888" cy="131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SzPct val="60000"/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가맹점 폐업 위기 사전 검지를 통한 </a:t>
            </a:r>
            <a:r>
              <a:rPr lang="ko-KR" altLang="en-US" sz="2800" b="1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폐업률</a:t>
            </a:r>
            <a:r>
              <a:rPr lang="ko-KR" altLang="en-US" sz="2800" b="1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감소</a:t>
            </a:r>
            <a:endParaRPr lang="en-US" altLang="ko-KR" sz="2800" b="1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2900" indent="-342900">
              <a:lnSpc>
                <a:spcPct val="150000"/>
              </a:lnSpc>
              <a:buSzPct val="60000"/>
              <a:buFont typeface="Arial" panose="020B0604020202020204" pitchFamily="34" charset="0"/>
              <a:buChar char="•"/>
            </a:pPr>
            <a:r>
              <a:rPr lang="ko-KR" altLang="en-US" sz="2800" b="1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조기 경보 시스템 구축</a:t>
            </a:r>
            <a:r>
              <a:rPr lang="ko-KR" altLang="en-US" sz="28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으로 가맹점 영업 지속성 확보</a:t>
            </a:r>
            <a:endParaRPr lang="en-US" altLang="ko-KR" sz="28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72282" y="9930004"/>
            <a:ext cx="3109370" cy="27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ⓒSaebyeol Yu. Saebyeol’s PowerPoint</a:t>
            </a: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9144000" y="0"/>
            <a:ext cx="9144000" cy="10287000"/>
            <a:chOff x="0" y="0"/>
            <a:chExt cx="12192000" cy="13716000"/>
          </a:xfrm>
        </p:grpSpPr>
        <p:sp>
          <p:nvSpPr>
            <p:cNvPr id="4" name="Freeform 4" descr="스케치, 그림, 예술, 라인 아트이(가) 표시된 사진  자동 생성된 설명"/>
            <p:cNvSpPr/>
            <p:nvPr/>
          </p:nvSpPr>
          <p:spPr>
            <a:xfrm>
              <a:off x="0" y="0"/>
              <a:ext cx="12192000" cy="13716000"/>
            </a:xfrm>
            <a:custGeom>
              <a:avLst/>
              <a:gdLst/>
              <a:ahLst/>
              <a:cxnLst/>
              <a:rect l="l" t="t" r="r" b="b"/>
              <a:pathLst>
                <a:path w="12192000" h="13716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AutoShape 5"/>
          <p:cNvSpPr/>
          <p:nvPr/>
        </p:nvSpPr>
        <p:spPr>
          <a:xfrm rot="3286">
            <a:off x="848303" y="585440"/>
            <a:ext cx="996199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944508" y="946647"/>
            <a:ext cx="96049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목차</a:t>
            </a:r>
            <a:endParaRPr lang="en-US" sz="300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076357" y="1048507"/>
            <a:ext cx="2436106" cy="42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table of contents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99020" y="2471380"/>
            <a:ext cx="310524" cy="629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01940" y="2550154"/>
            <a:ext cx="1017448" cy="481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900" dirty="0" err="1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개요</a:t>
            </a:r>
            <a:endParaRPr lang="en-US" sz="2700" spc="900" dirty="0">
              <a:solidFill>
                <a:srgbClr val="40404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199020" y="3986837"/>
            <a:ext cx="389874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01940" y="4065611"/>
            <a:ext cx="478966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900" dirty="0" err="1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데이터</a:t>
            </a:r>
            <a:r>
              <a:rPr lang="en-US" sz="2700" spc="900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spc="900" dirty="0" err="1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분석및</a:t>
            </a:r>
            <a:r>
              <a:rPr lang="en-US" sz="2700" spc="900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spc="900" dirty="0" err="1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전처리</a:t>
            </a:r>
            <a:endParaRPr lang="en-US" sz="2700" spc="900" dirty="0">
              <a:solidFill>
                <a:srgbClr val="40404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99020" y="5446719"/>
            <a:ext cx="397086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01940" y="5525493"/>
            <a:ext cx="463726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ko-KR" altLang="en-US" sz="2700" spc="90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조기 경보 시스템</a:t>
            </a:r>
            <a:endParaRPr lang="en-US" sz="2700" spc="900" dirty="0">
              <a:solidFill>
                <a:srgbClr val="40404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199020" y="6906601"/>
            <a:ext cx="327357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201940" y="6985375"/>
            <a:ext cx="387526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900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결</a:t>
            </a:r>
            <a:r>
              <a:rPr lang="ko-KR" altLang="en-US" sz="2700" spc="900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론 및 의의</a:t>
            </a:r>
            <a:endParaRPr lang="en-US" sz="2700" spc="900" dirty="0">
              <a:solidFill>
                <a:srgbClr val="40404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0600" y="2774786"/>
            <a:ext cx="8659181" cy="6483514"/>
          </a:xfrm>
          <a:custGeom>
            <a:avLst/>
            <a:gdLst/>
            <a:ahLst/>
            <a:cxnLst/>
            <a:rect l="l" t="t" r="r" b="b"/>
            <a:pathLst>
              <a:path w="8659181" h="6483514">
                <a:moveTo>
                  <a:pt x="0" y="0"/>
                </a:moveTo>
                <a:lnTo>
                  <a:pt x="8659181" y="0"/>
                </a:lnTo>
                <a:lnTo>
                  <a:pt x="8659181" y="6483514"/>
                </a:lnTo>
                <a:lnTo>
                  <a:pt x="0" y="6483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33" r="-23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06000" y="2956629"/>
            <a:ext cx="7889022" cy="5030787"/>
          </a:xfrm>
          <a:custGeom>
            <a:avLst/>
            <a:gdLst/>
            <a:ahLst/>
            <a:cxnLst/>
            <a:rect l="l" t="t" r="r" b="b"/>
            <a:pathLst>
              <a:path w="7889022" h="5030787">
                <a:moveTo>
                  <a:pt x="0" y="0"/>
                </a:moveTo>
                <a:lnTo>
                  <a:pt x="7889021" y="0"/>
                </a:lnTo>
                <a:lnTo>
                  <a:pt x="7889021" y="5030787"/>
                </a:lnTo>
                <a:lnTo>
                  <a:pt x="0" y="50307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101" t="-22780" b="-14565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591800" y="1939858"/>
            <a:ext cx="6872069" cy="646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6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TARGET </a:t>
            </a:r>
            <a:r>
              <a:rPr lang="en-US" sz="33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비율</a:t>
            </a:r>
            <a:endParaRPr lang="en-US" sz="330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742950" y="628650"/>
            <a:ext cx="1479551" cy="651392"/>
            <a:chOff x="0" y="0"/>
            <a:chExt cx="1972734" cy="8685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2737149" y="680932"/>
            <a:ext cx="11541139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ko-KR" altLang="en-US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데이터 개요</a:t>
            </a:r>
            <a:endParaRPr lang="en-US" sz="3000" b="1" spc="900" dirty="0">
              <a:solidFill>
                <a:srgbClr val="262626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600"/>
              </a:lnSpc>
            </a:pPr>
            <a:endParaRPr lang="en-US" sz="3000" b="1" spc="900" dirty="0">
              <a:solidFill>
                <a:srgbClr val="262626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79799" y="759708"/>
            <a:ext cx="80585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534649-706B-8489-54EA-D4DC59F2A77B}"/>
              </a:ext>
            </a:extLst>
          </p:cNvPr>
          <p:cNvSpPr txBox="1"/>
          <p:nvPr/>
        </p:nvSpPr>
        <p:spPr>
          <a:xfrm>
            <a:off x="530374" y="2160389"/>
            <a:ext cx="4413549" cy="475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40"/>
              </a:lnSpc>
              <a:defRPr/>
            </a:pPr>
            <a:r>
              <a:rPr lang="ko-KR" altLang="en-US" sz="2400" b="1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서울 성동구 가맹점 분포</a:t>
            </a:r>
            <a:endParaRPr lang="en-US" altLang="ko-KR" sz="105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A31F63-2BD8-939B-3136-4D2B590A1DF2}"/>
              </a:ext>
            </a:extLst>
          </p:cNvPr>
          <p:cNvSpPr txBox="1"/>
          <p:nvPr/>
        </p:nvSpPr>
        <p:spPr>
          <a:xfrm>
            <a:off x="6553200" y="2210518"/>
            <a:ext cx="4413549" cy="475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40"/>
              </a:lnSpc>
              <a:defRPr/>
            </a:pPr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정상 영업</a:t>
            </a:r>
            <a:r>
              <a:rPr lang="ko-KR" altLang="en-US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/ </a:t>
            </a:r>
            <a:r>
              <a:rPr lang="ko-KR" altLang="en-US" dirty="0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폐업</a:t>
            </a:r>
            <a:endParaRPr lang="en-US" altLang="ko-KR" sz="9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A626C4-FE5A-1C67-3658-8D94ECD36A70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개요   </a:t>
            </a:r>
            <a:r>
              <a:rPr lang="ko-KR" altLang="en-US" sz="1600" b="1" dirty="0"/>
              <a:t>데이터 분석 및 </a:t>
            </a:r>
            <a:r>
              <a:rPr lang="ko-KR" altLang="en-US" sz="1600" b="1" dirty="0" err="1"/>
              <a:t>전처리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조기 경보 시스템   결론 및 의의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A24105-C61F-5BDF-559D-B5C5CA5A9834}"/>
              </a:ext>
            </a:extLst>
          </p:cNvPr>
          <p:cNvSpPr txBox="1"/>
          <p:nvPr/>
        </p:nvSpPr>
        <p:spPr>
          <a:xfrm>
            <a:off x="10287000" y="8103007"/>
            <a:ext cx="6593622" cy="875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40"/>
              </a:lnSpc>
              <a:defRPr/>
            </a:pPr>
            <a:r>
              <a:rPr lang="ko-KR" altLang="en-US" b="1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데이터</a:t>
            </a:r>
            <a:r>
              <a:rPr lang="en-US" altLang="ko-KR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ko-KR" altLang="en-US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월별 가맹점 매출 데이터</a:t>
            </a:r>
          </a:p>
          <a:p>
            <a:pPr>
              <a:lnSpc>
                <a:spcPts val="3240"/>
              </a:lnSpc>
              <a:defRPr/>
            </a:pPr>
            <a:r>
              <a:rPr lang="ko-KR" altLang="en-US" b="1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폐업 가맹점</a:t>
            </a:r>
            <a:r>
              <a:rPr lang="en-US" altLang="ko-KR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ko-KR" altLang="en-US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앞으로 </a:t>
            </a:r>
            <a:r>
              <a:rPr lang="en-US" altLang="ko-KR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9</a:t>
            </a:r>
            <a:r>
              <a:rPr lang="ko-KR" altLang="en-US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달 이내 폐업 하는 가맹점</a:t>
            </a:r>
            <a:endParaRPr lang="en-US" altLang="ko-KR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2950" y="628650"/>
            <a:ext cx="1479551" cy="651392"/>
            <a:chOff x="0" y="0"/>
            <a:chExt cx="1972734" cy="8685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079799" y="759708"/>
            <a:ext cx="80585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37148" y="680932"/>
            <a:ext cx="6787851" cy="476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데이</a:t>
            </a:r>
            <a:r>
              <a:rPr lang="ko-KR" altLang="en-US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터 개요</a:t>
            </a:r>
            <a:endParaRPr lang="en-US" sz="3000" b="1" spc="900" dirty="0">
              <a:solidFill>
                <a:srgbClr val="262626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BE4379-3CB8-42A4-8062-5846FE7901C6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개요   </a:t>
            </a:r>
            <a:r>
              <a:rPr lang="ko-KR" altLang="en-US" sz="1600" b="1" dirty="0"/>
              <a:t>데이터 분석 및 </a:t>
            </a:r>
            <a:r>
              <a:rPr lang="ko-KR" altLang="en-US" sz="1600" b="1" dirty="0" err="1"/>
              <a:t>전처리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조기 경보 시스템   결론 및 의의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FDA346-0719-6C32-185F-699CF013502C}"/>
              </a:ext>
            </a:extLst>
          </p:cNvPr>
          <p:cNvSpPr txBox="1"/>
          <p:nvPr/>
        </p:nvSpPr>
        <p:spPr>
          <a:xfrm>
            <a:off x="914400" y="2247900"/>
            <a:ext cx="844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월별  폐업</a:t>
            </a:r>
            <a:r>
              <a:rPr lang="en-US" altLang="ko-KR" sz="2800" b="1" dirty="0"/>
              <a:t>/ </a:t>
            </a:r>
            <a:r>
              <a:rPr lang="ko-KR" altLang="en-US" sz="2800" b="1" dirty="0"/>
              <a:t>생존 가맹점 추이 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정규화 스케일링 적용</a:t>
            </a:r>
            <a:r>
              <a:rPr lang="en-US" altLang="ko-KR" sz="2800" b="1" dirty="0"/>
              <a:t>)</a:t>
            </a:r>
            <a:r>
              <a:rPr lang="ko-KR" altLang="en-US" sz="2800" b="1" dirty="0"/>
              <a:t> </a:t>
            </a:r>
          </a:p>
        </p:txBody>
      </p:sp>
      <p:pic>
        <p:nvPicPr>
          <p:cNvPr id="10" name="그림 9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DEF82E-3FB3-CF4B-F094-7AA8CBCA8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314700"/>
            <a:ext cx="16664082" cy="6019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613921" y="2714625"/>
          <a:ext cx="4286250" cy="5328493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759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데이터셋 1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dirty="0" err="1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가맹점</a:t>
                      </a:r>
                      <a:r>
                        <a:rPr lang="en-US" sz="2700" dirty="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700" dirty="0" err="1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구분번호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가맹점 주소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브랜드 구분코드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업종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dirty="0" err="1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개설일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폐업일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0197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742950" y="628650"/>
            <a:ext cx="1479551" cy="651392"/>
            <a:chOff x="0" y="0"/>
            <a:chExt cx="1972734" cy="8685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106488" y="759708"/>
            <a:ext cx="752473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37149" y="680932"/>
            <a:ext cx="2796781" cy="52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출처</a:t>
            </a:r>
            <a:endParaRPr lang="en-US" sz="3000" b="1" spc="900" dirty="0">
              <a:solidFill>
                <a:srgbClr val="262626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875811" y="2714625"/>
          <a:ext cx="4286250" cy="5371861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759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데이터셋 2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가맹점 구분번호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기준년월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매출금액 구간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dirty="0" err="1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매출건수</a:t>
                      </a:r>
                      <a:r>
                        <a:rPr lang="en-US" sz="2700" dirty="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2700" dirty="0" err="1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구간</a:t>
                      </a: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유니크 고객 수 구간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동일 업종 매출 금액 비율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동일 업종 매출 건수 비율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0197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2137702" y="2714625"/>
          <a:ext cx="4286250" cy="5476240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759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서울 열린데이터 광장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상권 변화 지표-행정동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2023년 추정매출-행정동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2024년 추정매출-행정동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서울시 역사마스터 정보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소비자 심리 지수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서울시 상권분석 서비스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점포수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개폐업수(률)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447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인구수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0197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임대시세</a:t>
                      </a:r>
                      <a:endParaRPr lang="en-US" sz="1100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84BCDDB-81CD-43F9-417A-38D7DAD395EC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개요   </a:t>
            </a:r>
            <a:r>
              <a:rPr lang="ko-KR" altLang="en-US" sz="1600" b="1" dirty="0"/>
              <a:t>데이터 분석 및 </a:t>
            </a:r>
            <a:r>
              <a:rPr lang="ko-KR" altLang="en-US" sz="1600" b="1" dirty="0" err="1"/>
              <a:t>전처리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조기 경보 시스템   결론 및 의의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2950" y="628650"/>
            <a:ext cx="1479551" cy="651392"/>
            <a:chOff x="0" y="0"/>
            <a:chExt cx="1972734" cy="8685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106488" y="759708"/>
            <a:ext cx="752473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37149" y="680932"/>
            <a:ext cx="8007051" cy="476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전처리및</a:t>
            </a:r>
            <a:r>
              <a:rPr lang="en-US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파생</a:t>
            </a:r>
            <a:r>
              <a:rPr lang="en-US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변수</a:t>
            </a:r>
            <a:endParaRPr lang="en-US" sz="3000" b="1" spc="900" dirty="0">
              <a:solidFill>
                <a:srgbClr val="262626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2E160F04-14F5-6173-A4C7-9BF0CFF49F41}"/>
              </a:ext>
            </a:extLst>
          </p:cNvPr>
          <p:cNvSpPr txBox="1"/>
          <p:nvPr/>
        </p:nvSpPr>
        <p:spPr>
          <a:xfrm>
            <a:off x="1106488" y="1787321"/>
            <a:ext cx="17029112" cy="10054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3117" lvl="2" indent="-457200" algn="l">
              <a:lnSpc>
                <a:spcPts val="5759"/>
              </a:lnSpc>
              <a:buFont typeface="Arial" panose="020B0604020202020204" pitchFamily="34" charset="0"/>
              <a:buChar char="•"/>
            </a:pP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프랜차이즈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가맹점의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프랜차이즈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계약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유무를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분류</a:t>
            </a:r>
            <a:endParaRPr lang="en-US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813117" lvl="2" indent="-457200" algn="l">
              <a:lnSpc>
                <a:spcPts val="5759"/>
              </a:lnSpc>
              <a:buFont typeface="Arial" panose="020B0604020202020204" pitchFamily="34" charset="0"/>
              <a:buChar char="•"/>
            </a:pP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역세권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점수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marL="422275" lvl="2" indent="-140758" algn="l">
              <a:lnSpc>
                <a:spcPts val="4860"/>
              </a:lnSpc>
            </a:pP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	- </a:t>
            </a:r>
            <a:r>
              <a:rPr lang="en-US" sz="2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가맹점</a:t>
            </a: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주소를</a:t>
            </a: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위,경도로</a:t>
            </a: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변환</a:t>
            </a: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후 </a:t>
            </a:r>
            <a:r>
              <a:rPr lang="en-US" sz="2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서울</a:t>
            </a: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시 내 </a:t>
            </a:r>
            <a:r>
              <a:rPr lang="en-US" sz="2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역들과</a:t>
            </a: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거리</a:t>
            </a: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계산</a:t>
            </a:r>
            <a:endParaRPr lang="en-US" sz="2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22275" lvl="2" indent="-140758" algn="l">
              <a:lnSpc>
                <a:spcPts val="4860"/>
              </a:lnSpc>
            </a:pP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	- 역 </a:t>
            </a:r>
            <a:r>
              <a:rPr lang="en-US" sz="2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거리가</a:t>
            </a: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300m </a:t>
            </a:r>
            <a:r>
              <a:rPr lang="en-US" sz="2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이내</a:t>
            </a: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300~500 m </a:t>
            </a:r>
            <a:r>
              <a:rPr lang="en-US" sz="2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이내인</a:t>
            </a: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역 </a:t>
            </a:r>
            <a:r>
              <a:rPr lang="en-US" sz="2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개수</a:t>
            </a: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집계</a:t>
            </a:r>
            <a:endParaRPr lang="en-US" sz="2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22275" lvl="2" indent="-140758" algn="l">
              <a:lnSpc>
                <a:spcPts val="4800"/>
              </a:lnSpc>
            </a:pP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	- </a:t>
            </a:r>
            <a:r>
              <a:rPr lang="en-US" sz="2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점수</a:t>
            </a: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산출</a:t>
            </a: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2000" u="sng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2*(300m </a:t>
            </a:r>
            <a:r>
              <a:rPr lang="en-US" sz="2000" u="sng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이내</a:t>
            </a:r>
            <a:r>
              <a:rPr lang="en-US" sz="2000" u="sng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역 </a:t>
            </a:r>
            <a:r>
              <a:rPr lang="en-US" sz="2000" u="sng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개수</a:t>
            </a:r>
            <a:r>
              <a:rPr lang="en-US" sz="2000" u="sng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) + (300~500m </a:t>
            </a:r>
            <a:r>
              <a:rPr lang="en-US" sz="2000" u="sng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이내</a:t>
            </a:r>
            <a:r>
              <a:rPr lang="en-US" sz="2000" u="sng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역 </a:t>
            </a:r>
            <a:r>
              <a:rPr lang="en-US" sz="2000" u="sng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개수</a:t>
            </a:r>
            <a:r>
              <a:rPr lang="en-US" sz="2000" u="sng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)</a:t>
            </a:r>
          </a:p>
          <a:p>
            <a:pPr marL="837247" lvl="2" indent="-457200" algn="l">
              <a:lnSpc>
                <a:spcPts val="6480"/>
              </a:lnSpc>
              <a:buFont typeface="Arial" panose="020B0604020202020204" pitchFamily="34" charset="0"/>
              <a:buChar char="•"/>
            </a:pP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행정동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별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매출액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평균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 </a:t>
            </a:r>
          </a:p>
          <a:p>
            <a:pPr marL="506730" lvl="2" indent="-168910" algn="l">
              <a:lnSpc>
                <a:spcPts val="5759"/>
              </a:lnSpc>
            </a:pP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	-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분기별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행정동별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업종별로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분류된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총합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매출액을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가맹점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수로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나누어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평균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산출</a:t>
            </a:r>
            <a:endParaRPr lang="en-US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813117" lvl="2" indent="-457200" algn="l">
              <a:lnSpc>
                <a:spcPts val="5759"/>
              </a:lnSpc>
              <a:buFont typeface="Arial" panose="020B0604020202020204" pitchFamily="34" charset="0"/>
              <a:buChar char="•"/>
            </a:pP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행정동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코드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가맹점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주소를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기반으로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행정동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분류</a:t>
            </a:r>
            <a:endParaRPr lang="en-US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5917" lvl="2" indent="-118639" algn="l">
              <a:lnSpc>
                <a:spcPts val="2880"/>
              </a:lnSpc>
            </a:pPr>
            <a:r>
              <a:rPr lang="en-US" sz="16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- 왕십리2동,왕십리도선동,마장동,사근동,행당1동,행당2동,응봉동,금호1가동,금호2·3가동,금호4가동,옥수동,성수1가1동,성수1가2동,성수2가1동,성수2가3동,송정동,용답동</a:t>
            </a:r>
          </a:p>
          <a:p>
            <a:pPr marL="813117" lvl="2" indent="-457200" algn="l">
              <a:lnSpc>
                <a:spcPts val="5759"/>
              </a:lnSpc>
              <a:buFont typeface="Arial" panose="020B0604020202020204" pitchFamily="34" charset="0"/>
              <a:buChar char="•"/>
            </a:pP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서비스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업종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코드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명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상권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분석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서비스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업종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분류에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따라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가맹정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업종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재분류</a:t>
            </a:r>
            <a:endParaRPr lang="en-US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5917" lvl="2" indent="-118639" algn="l"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- 한식음식점,중식음식점,일식음식점,양식음식점,제과점,패스트푸드점,치킨전문점,분식전문점,호프-간이주점,커피-음료,주류도매,미곡판매,육류판매,수산물판매,청과상,반찬가게,기타</a:t>
            </a:r>
          </a:p>
          <a:p>
            <a:pPr marL="355917" lvl="2" indent="-118639" algn="l">
              <a:lnSpc>
                <a:spcPts val="2880"/>
              </a:lnSpc>
            </a:pPr>
            <a:endParaRPr lang="en-US" sz="16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5917" lvl="2" indent="-118639" algn="l">
              <a:lnSpc>
                <a:spcPts val="4000"/>
              </a:lnSpc>
            </a:pPr>
            <a:endParaRPr lang="en-US" sz="16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5917" lvl="2" indent="-118639" algn="l">
              <a:lnSpc>
                <a:spcPts val="3240"/>
              </a:lnSpc>
            </a:pPr>
            <a:endParaRPr lang="en-US" sz="16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5917" lvl="2" indent="-118639" algn="l">
              <a:lnSpc>
                <a:spcPts val="3240"/>
              </a:lnSpc>
            </a:pPr>
            <a:endParaRPr lang="en-US" sz="16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5917" lvl="2" indent="-118639" algn="l">
              <a:lnSpc>
                <a:spcPts val="3240"/>
              </a:lnSpc>
            </a:pPr>
            <a:endParaRPr lang="en-US" sz="16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5917" lvl="2" indent="-118639" algn="l">
              <a:lnSpc>
                <a:spcPts val="3240"/>
              </a:lnSpc>
            </a:pPr>
            <a:endParaRPr lang="en-US" sz="16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5917" lvl="2" indent="-118639" algn="l">
              <a:lnSpc>
                <a:spcPts val="3240"/>
              </a:lnSpc>
            </a:pPr>
            <a:endParaRPr lang="en-US" sz="16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7B728A-9075-C232-F524-1C5B31D60D91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개요   </a:t>
            </a:r>
            <a:r>
              <a:rPr lang="ko-KR" altLang="en-US" sz="1600" b="1" dirty="0"/>
              <a:t>데이터 분석 및 </a:t>
            </a:r>
            <a:r>
              <a:rPr lang="ko-KR" altLang="en-US" sz="1600" b="1" dirty="0" err="1"/>
              <a:t>전처리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조기 경보 시스템   결론 및 의의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0524992-E50F-27C7-7E57-DC328CA7FA0C}"/>
              </a:ext>
            </a:extLst>
          </p:cNvPr>
          <p:cNvGrpSpPr/>
          <p:nvPr/>
        </p:nvGrpSpPr>
        <p:grpSpPr>
          <a:xfrm>
            <a:off x="742950" y="628650"/>
            <a:ext cx="1479551" cy="651392"/>
            <a:chOff x="0" y="0"/>
            <a:chExt cx="1972734" cy="86852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65F6BE-CD23-D38A-0453-BD00256DDB45}"/>
                </a:ext>
              </a:extLst>
            </p:cNvPr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4EA9F0BA-A679-D8AF-E3C8-E5D4FE595FD9}"/>
              </a:ext>
            </a:extLst>
          </p:cNvPr>
          <p:cNvSpPr txBox="1"/>
          <p:nvPr/>
        </p:nvSpPr>
        <p:spPr>
          <a:xfrm>
            <a:off x="1106488" y="759708"/>
            <a:ext cx="752473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D99741A-3C6D-4348-6FE3-D8E2425813BC}"/>
              </a:ext>
            </a:extLst>
          </p:cNvPr>
          <p:cNvSpPr txBox="1"/>
          <p:nvPr/>
        </p:nvSpPr>
        <p:spPr>
          <a:xfrm>
            <a:off x="2737149" y="680932"/>
            <a:ext cx="8007051" cy="476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전처리및</a:t>
            </a:r>
            <a:r>
              <a:rPr lang="en-US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파생</a:t>
            </a:r>
            <a:r>
              <a:rPr lang="en-US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변수</a:t>
            </a:r>
            <a:endParaRPr lang="en-US" sz="3000" b="1" spc="900" dirty="0">
              <a:solidFill>
                <a:srgbClr val="262626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9CF499-D3E5-D21B-F416-8F4E57A6C972}"/>
              </a:ext>
            </a:extLst>
          </p:cNvPr>
          <p:cNvSpPr txBox="1"/>
          <p:nvPr/>
        </p:nvSpPr>
        <p:spPr>
          <a:xfrm>
            <a:off x="1106488" y="1585705"/>
            <a:ext cx="17029112" cy="9272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8632" lvl="1" indent="-244316" algn="l">
              <a:lnSpc>
                <a:spcPct val="200000"/>
              </a:lnSpc>
              <a:buFont typeface="Arial"/>
              <a:buChar char="•"/>
            </a:pPr>
            <a:r>
              <a:rPr lang="ko-KR" altLang="en-US" sz="2700" b="1" dirty="0">
                <a:solidFill>
                  <a:srgbClr val="000000"/>
                </a:solidFill>
                <a:latin typeface="Arimo Bold"/>
                <a:ea typeface="Arimo"/>
                <a:cs typeface="Arimo Bold"/>
                <a:sym typeface="Arimo Bold"/>
              </a:rPr>
              <a:t>유동 인구</a:t>
            </a:r>
            <a:endParaRPr lang="en-US" altLang="ko-KR" sz="2700" b="1" dirty="0">
              <a:solidFill>
                <a:srgbClr val="000000"/>
              </a:solidFill>
              <a:latin typeface="Arimo Bold"/>
              <a:ea typeface="Arimo"/>
              <a:cs typeface="Arimo Bold"/>
              <a:sym typeface="Arimo Bold"/>
            </a:endParaRPr>
          </a:p>
          <a:p>
            <a:pPr marL="244316" lvl="1">
              <a:lnSpc>
                <a:spcPct val="16000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	- 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/>
                <a:cs typeface="Arimo" panose="020B0600000101010101" charset="0"/>
                <a:sym typeface="Arimo Bold"/>
              </a:rPr>
              <a:t>분기별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/>
                <a:cs typeface="Arimo" panose="020B0600000101010101" charset="0"/>
                <a:sym typeface="Arimo Bold"/>
              </a:rPr>
              <a:t>행정동별 유동 인구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 (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/>
                <a:cs typeface="Arimo" panose="020B0600000101010101" charset="0"/>
                <a:sym typeface="Arimo Bold"/>
              </a:rPr>
              <a:t>명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/ha)</a:t>
            </a:r>
          </a:p>
          <a:p>
            <a:pPr marL="488632" lvl="1" indent="-244316" algn="l">
              <a:lnSpc>
                <a:spcPct val="160000"/>
              </a:lnSpc>
              <a:buFont typeface="Arial"/>
              <a:buChar char="•"/>
            </a:pPr>
            <a:r>
              <a:rPr lang="ko-KR" altLang="en-US" sz="2700" b="1" dirty="0">
                <a:solidFill>
                  <a:srgbClr val="000000"/>
                </a:solidFill>
                <a:latin typeface="Arimo Bold"/>
                <a:ea typeface="Arimo"/>
                <a:cs typeface="Arimo Bold"/>
                <a:sym typeface="Arimo Bold"/>
              </a:rPr>
              <a:t>임대료</a:t>
            </a:r>
            <a:endParaRPr lang="en-US" altLang="ko-KR" sz="2700" b="1" dirty="0">
              <a:solidFill>
                <a:srgbClr val="000000"/>
              </a:solidFill>
              <a:latin typeface="Arimo Bold"/>
              <a:ea typeface="Arimo"/>
              <a:cs typeface="Arimo Bold"/>
              <a:sym typeface="Arimo Bold"/>
            </a:endParaRPr>
          </a:p>
          <a:p>
            <a:pPr marL="244316" lvl="1">
              <a:lnSpc>
                <a:spcPct val="16000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	- 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/>
                <a:cs typeface="Arimo" panose="020B0600000101010101" charset="0"/>
                <a:sym typeface="Arimo Bold"/>
              </a:rPr>
              <a:t>분기별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/>
                <a:cs typeface="Arimo" panose="020B0600000101010101" charset="0"/>
                <a:sym typeface="Arimo Bold"/>
              </a:rPr>
              <a:t>행정동별 임대시세 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(</a:t>
            </a:r>
            <a:r>
              <a:rPr lang="en-US" altLang="ko-KR" sz="2400" dirty="0"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3.3㎡</a:t>
            </a:r>
            <a:r>
              <a:rPr lang="ko-KR" altLang="en-US" sz="2400" dirty="0"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 당 월환산임대료</a:t>
            </a:r>
            <a:r>
              <a:rPr lang="en-US" altLang="ko-KR" sz="2400" dirty="0"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, </a:t>
            </a:r>
            <a:r>
              <a:rPr lang="ko-KR" altLang="en-US" sz="2400" dirty="0"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원</a:t>
            </a:r>
            <a:r>
              <a:rPr lang="en-US" altLang="ko-KR" sz="2400" dirty="0"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)</a:t>
            </a:r>
            <a:endParaRPr lang="en-US" altLang="ko-KR" sz="24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Arimo Bold"/>
            </a:endParaRPr>
          </a:p>
          <a:p>
            <a:pPr marL="488632" lvl="1" indent="-244316" algn="l">
              <a:lnSpc>
                <a:spcPct val="200000"/>
              </a:lnSpc>
              <a:buFont typeface="Arial"/>
              <a:buChar char="•"/>
            </a:pPr>
            <a:r>
              <a:rPr lang="ko-KR" altLang="en-US" sz="2700" b="1" dirty="0" err="1">
                <a:solidFill>
                  <a:srgbClr val="000000"/>
                </a:solidFill>
                <a:latin typeface="Arimo Bold"/>
                <a:ea typeface="Arimo"/>
                <a:cs typeface="Arimo Bold"/>
                <a:sym typeface="Arimo Bold"/>
              </a:rPr>
              <a:t>개업률</a:t>
            </a:r>
            <a:r>
              <a:rPr lang="en-US" altLang="ko-KR" sz="2700" b="1" dirty="0">
                <a:solidFill>
                  <a:srgbClr val="000000"/>
                </a:solidFill>
                <a:latin typeface="Arimo Bold"/>
                <a:ea typeface="Arimo"/>
                <a:cs typeface="Arimo Bold"/>
                <a:sym typeface="Arimo Bold"/>
              </a:rPr>
              <a:t>, </a:t>
            </a:r>
            <a:r>
              <a:rPr lang="ko-KR" altLang="en-US" sz="2700" b="1" dirty="0" err="1">
                <a:solidFill>
                  <a:srgbClr val="000000"/>
                </a:solidFill>
                <a:latin typeface="Arimo Bold"/>
                <a:ea typeface="Arimo"/>
                <a:cs typeface="Arimo Bold"/>
                <a:sym typeface="Arimo Bold"/>
              </a:rPr>
              <a:t>폐업률</a:t>
            </a:r>
            <a:endParaRPr lang="en-US" altLang="ko-KR" sz="2700" b="1" dirty="0">
              <a:solidFill>
                <a:srgbClr val="000000"/>
              </a:solidFill>
              <a:latin typeface="Arimo Bold"/>
              <a:ea typeface="Arimo"/>
              <a:cs typeface="Arimo Bold"/>
              <a:sym typeface="Arimo Bold"/>
            </a:endParaRPr>
          </a:p>
          <a:p>
            <a:pPr marL="244316" lvl="1" algn="l">
              <a:lnSpc>
                <a:spcPct val="160000"/>
              </a:lnSpc>
            </a:pPr>
            <a:r>
              <a:rPr 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	-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/>
                <a:cs typeface="Arimo" panose="020B0600000101010101" charset="0"/>
                <a:sym typeface="Arimo Bold"/>
              </a:rPr>
              <a:t> 분기별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/>
                <a:cs typeface="Arimo" panose="020B0600000101010101" charset="0"/>
                <a:sym typeface="Arimo Bold"/>
              </a:rPr>
              <a:t>행정동별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/>
                <a:cs typeface="Arimo" panose="020B0600000101010101" charset="0"/>
                <a:sym typeface="Arimo Bold"/>
              </a:rPr>
              <a:t>업종별 가맹점의 개업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/>
                <a:cs typeface="Arimo" panose="020B0600000101010101" charset="0"/>
                <a:sym typeface="Arimo Bold"/>
              </a:rPr>
              <a:t>폐업 비율</a:t>
            </a:r>
            <a:endParaRPr lang="en-US" altLang="ko-KR" sz="2400" dirty="0">
              <a:solidFill>
                <a:srgbClr val="000000"/>
              </a:solidFill>
              <a:latin typeface="Arimo" panose="020B0600000101010101" charset="0"/>
              <a:ea typeface="Arimo"/>
              <a:cs typeface="Arimo" panose="020B0600000101010101" charset="0"/>
              <a:sym typeface="Arimo Bold"/>
            </a:endParaRPr>
          </a:p>
          <a:p>
            <a:pPr marL="488632" marR="0" lvl="1" indent="-244316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ko-KR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 Bold"/>
                <a:ea typeface="Arimo Bold"/>
                <a:cs typeface="Arimo Bold"/>
                <a:sym typeface="Arimo Bold"/>
              </a:rPr>
              <a:t>상권 변화 지표</a:t>
            </a:r>
            <a:endParaRPr kumimoji="0" lang="en-US" altLang="ko-KR" sz="2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mo Bold"/>
              <a:ea typeface="Arimo Bold"/>
              <a:cs typeface="Arimo Bold"/>
              <a:sym typeface="Arimo Bold"/>
            </a:endParaRPr>
          </a:p>
          <a:p>
            <a:pPr marL="244316" marR="0" lvl="1" indent="0" algn="l" defTabSz="914400" rtl="0" eaLnBrk="1" fontAlgn="auto" latinLnBrk="0" hangingPunct="1">
              <a:lnSpc>
                <a:spcPts val="48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 Bold"/>
                <a:ea typeface="Arimo Bold"/>
                <a:cs typeface="Arimo Bold"/>
                <a:sym typeface="Arimo Bold"/>
              </a:rPr>
              <a:t>	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-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 Bold"/>
                <a:cs typeface="Arimo" panose="020B0600000101010101" charset="0"/>
                <a:sym typeface="Arimo Bold"/>
              </a:rPr>
              <a:t>각 상권 특징 분류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mo" panose="020B0600000101010101" charset="0"/>
              <a:ea typeface="Arimo" panose="020B0600000101010101" charset="0"/>
              <a:cs typeface="Arimo" panose="020B0600000101010101" charset="0"/>
              <a:sym typeface="Arimo Bold"/>
            </a:endParaRPr>
          </a:p>
          <a:p>
            <a:pPr marL="244316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	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-  LL(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다이나믹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):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행정동 평균 영업기간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&lt;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서울시 평균 영업기간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,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 행정동 평균 폐업가맹점 영업기간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&lt;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서울시 평균 폐업 가맹점 영업기간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 </a:t>
            </a:r>
          </a:p>
          <a:p>
            <a:pPr marL="244316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	-  LH(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상권확장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):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행정동 평균 영업기간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&lt;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서울시 평균 영업기간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,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 행정동 평균 폐업가맹점 영업기간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&gt;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서울시 평균 폐업 가맹점 영업기간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 </a:t>
            </a:r>
          </a:p>
          <a:p>
            <a:pPr marL="244316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	-  HL(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상권축소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):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행정동 평균 영업기간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&gt;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서울시 평균 영업기간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,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 행정동 평균 폐업가맹점 영업기간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&lt;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서울시 평균 폐업 가맹점 영업기간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mo" panose="020B0600000101010101" charset="0"/>
              <a:ea typeface="Arimo" panose="020B0600000101010101" charset="0"/>
              <a:cs typeface="Arimo" panose="020B0600000101010101" charset="0"/>
              <a:sym typeface="Arimo Bold"/>
            </a:endParaRPr>
          </a:p>
          <a:p>
            <a:pPr marL="244316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	-  HH(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정체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):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행정동 평균 영업기간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&gt;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서울시 평균 영업기간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,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 행정동 평균 폐업가맹점 영업기간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&gt;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서울시 평균 폐업 가맹점 영업기간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 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3020A3-0F55-96F0-77E6-3118056394DE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개요   </a:t>
            </a:r>
            <a:r>
              <a:rPr lang="ko-KR" altLang="en-US" sz="1600" b="1" dirty="0"/>
              <a:t>데이터 분석 및 </a:t>
            </a:r>
            <a:r>
              <a:rPr lang="ko-KR" altLang="en-US" sz="1600" b="1" dirty="0" err="1"/>
              <a:t>전처리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조기 경보 시스템   결론 및 의의</a:t>
            </a:r>
          </a:p>
        </p:txBody>
      </p:sp>
    </p:spTree>
    <p:extLst>
      <p:ext uri="{BB962C8B-B14F-4D97-AF65-F5344CB8AC3E}">
        <p14:creationId xmlns:p14="http://schemas.microsoft.com/office/powerpoint/2010/main" val="3190952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0504" y="1943100"/>
            <a:ext cx="15414597" cy="786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ct val="200000"/>
              </a:lnSpc>
              <a:buFont typeface="Arial"/>
              <a:buChar char="•"/>
            </a:pP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이동평균,변동성</a:t>
            </a:r>
            <a:endParaRPr lang="en-US" sz="270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88632" lvl="1" indent="-244316" algn="l">
              <a:lnSpc>
                <a:spcPts val="4860"/>
              </a:lnSpc>
            </a:pP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	-  </a:t>
            </a:r>
            <a:r>
              <a:rPr lang="ko-KR" altLang="en-US" sz="2400" u="sng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시계열 데이터의 계절성 반영</a:t>
            </a:r>
            <a:endParaRPr lang="en-US" sz="2400" u="sng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4860"/>
              </a:lnSpc>
            </a:pP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	- 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기준년월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기준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최근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3,6개월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평균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변동성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표준편차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)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산출</a:t>
            </a:r>
            <a:endParaRPr lang="en-US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4860"/>
              </a:lnSpc>
            </a:pP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	- 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매출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금액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건수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)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구간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유니크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고객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수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구간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객단가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구간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동일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업계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매출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금액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건수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)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구간</a:t>
            </a:r>
            <a:endParaRPr lang="en-US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4860"/>
              </a:lnSpc>
            </a:pP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ct val="200000"/>
              </a:lnSpc>
              <a:buFont typeface="Arial"/>
              <a:buChar char="•"/>
            </a:pP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시차</a:t>
            </a:r>
            <a:endParaRPr lang="en-US" sz="270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88632" lvl="1" indent="-244316" algn="l">
              <a:lnSpc>
                <a:spcPts val="4860"/>
              </a:lnSpc>
            </a:pP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	-  </a:t>
            </a:r>
            <a:r>
              <a:rPr lang="ko-KR" altLang="en-US" sz="2400" u="sng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시계열 데이터의 주기성 반영</a:t>
            </a:r>
            <a:endParaRPr lang="en-US" sz="2400" u="sng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4860"/>
              </a:lnSpc>
            </a:pP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	- 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기준년월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기준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1, 3, 6, 12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개월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전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데이터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산출</a:t>
            </a:r>
            <a:endParaRPr lang="en-US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4860"/>
              </a:lnSpc>
            </a:pP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	- 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매출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금액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건수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)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구간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유니크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고객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수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구간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객단가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구간</a:t>
            </a:r>
            <a:endParaRPr lang="en-US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4860"/>
              </a:lnSpc>
            </a:pP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4860"/>
              </a:lnSpc>
              <a:buFont typeface="Arial"/>
              <a:buChar char="•"/>
            </a:pP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운영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개월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수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기준년월에서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개업일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차이를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월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단위로</a:t>
            </a: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산출</a:t>
            </a:r>
            <a:endParaRPr lang="en-US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860"/>
              </a:lnSpc>
            </a:pP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742950" y="628650"/>
            <a:ext cx="1479551" cy="651392"/>
            <a:chOff x="0" y="0"/>
            <a:chExt cx="1972734" cy="8685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106488" y="759708"/>
            <a:ext cx="752473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37149" y="680932"/>
            <a:ext cx="770225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ko-KR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altLang="ko-KR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전처리및</a:t>
            </a:r>
            <a:r>
              <a:rPr lang="en-US" altLang="ko-KR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파생</a:t>
            </a:r>
            <a:r>
              <a:rPr lang="en-US" altLang="ko-KR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변수</a:t>
            </a:r>
            <a:endParaRPr lang="en-US" altLang="ko-KR" sz="3000" b="1" spc="900" dirty="0">
              <a:solidFill>
                <a:srgbClr val="262626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6A7F90-E18F-2365-0F81-96FD5A0AE211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개요   </a:t>
            </a:r>
            <a:r>
              <a:rPr lang="ko-KR" altLang="en-US" sz="1600" b="1" dirty="0"/>
              <a:t>데이터 분석 및 </a:t>
            </a:r>
            <a:r>
              <a:rPr lang="ko-KR" altLang="en-US" sz="1600" b="1" dirty="0" err="1"/>
              <a:t>전처리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조기 경보 시스템   결론 및 의의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2950" y="628650"/>
            <a:ext cx="1479551" cy="651392"/>
            <a:chOff x="0" y="0"/>
            <a:chExt cx="1972734" cy="8685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106488" y="759708"/>
            <a:ext cx="752473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37149" y="680932"/>
            <a:ext cx="694025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ko-KR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altLang="ko-KR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전처리및</a:t>
            </a:r>
            <a:r>
              <a:rPr lang="en-US" altLang="ko-KR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파생</a:t>
            </a:r>
            <a:r>
              <a:rPr lang="en-US" altLang="ko-KR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3000" b="1" spc="900" dirty="0" err="1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변수</a:t>
            </a:r>
            <a:endParaRPr lang="en-US" altLang="ko-KR" sz="3000" b="1" spc="900" dirty="0">
              <a:solidFill>
                <a:srgbClr val="262626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96996" y="1743075"/>
            <a:ext cx="13270727" cy="85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타겟</a:t>
            </a:r>
            <a:r>
              <a:rPr lang="en-US" sz="36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변수</a:t>
            </a:r>
            <a:r>
              <a:rPr lang="en-US" sz="36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선정</a:t>
            </a:r>
            <a:endParaRPr lang="en-US" sz="36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240"/>
              </a:lnSpc>
            </a:pPr>
            <a:endParaRPr lang="en-US" sz="36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860"/>
              </a:lnSpc>
            </a:pP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폐업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예측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  <a:p>
            <a:pPr marL="488632" lvl="1" indent="-244316">
              <a:lnSpc>
                <a:spcPts val="4860"/>
              </a:lnSpc>
              <a:buFont typeface="Arial"/>
              <a:buChar char="•"/>
            </a:pPr>
            <a:r>
              <a:rPr lang="en-US" altLang="ko-KR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시간의</a:t>
            </a:r>
            <a:r>
              <a:rPr lang="en-US" altLang="ko-KR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흐름에</a:t>
            </a:r>
            <a:r>
              <a:rPr lang="en-US" altLang="ko-KR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따라</a:t>
            </a:r>
            <a:r>
              <a:rPr lang="en-US" altLang="ko-KR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드러나는</a:t>
            </a:r>
            <a:r>
              <a:rPr lang="en-US" altLang="ko-KR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폐업</a:t>
            </a:r>
            <a:r>
              <a:rPr lang="en-US" altLang="ko-KR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징조</a:t>
            </a:r>
            <a:r>
              <a:rPr lang="en-US" altLang="ko-KR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를</a:t>
            </a:r>
            <a:r>
              <a:rPr lang="en-US" altLang="ko-KR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포착하는</a:t>
            </a:r>
            <a:r>
              <a:rPr lang="en-US" altLang="ko-KR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것이</a:t>
            </a:r>
            <a:r>
              <a:rPr lang="en-US" altLang="ko-KR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목표</a:t>
            </a: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4860"/>
              </a:lnSpc>
              <a:buFont typeface="Arial"/>
              <a:buChar char="•"/>
            </a:pP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해당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가맹점의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월별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데이터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기준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9달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이내에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폐업일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이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포함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되면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그 외 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0</a:t>
            </a:r>
          </a:p>
          <a:p>
            <a:pPr marL="488632" lvl="1" indent="-244316" algn="l">
              <a:lnSpc>
                <a:spcPts val="4860"/>
              </a:lnSpc>
              <a:buFont typeface="Arial"/>
              <a:buChar char="•"/>
            </a:pP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폐업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징조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를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ko-KR" alt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가능한 조기에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포착하기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위해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9달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이내를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기준</a:t>
            </a: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4320"/>
              </a:lnSpc>
            </a:pPr>
            <a:r>
              <a:rPr lang="en-US" sz="36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이상치</a:t>
            </a:r>
            <a:r>
              <a:rPr lang="en-US" sz="36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제거</a:t>
            </a:r>
            <a:r>
              <a:rPr lang="en-US" sz="36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marL="488632" lvl="1" indent="-244316" algn="l">
              <a:lnSpc>
                <a:spcPts val="3240"/>
              </a:lnSpc>
            </a:pPr>
            <a:endParaRPr lang="en-US" sz="36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4860"/>
              </a:lnSpc>
              <a:buFont typeface="Arial"/>
              <a:buChar char="•"/>
            </a:pP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성동구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외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지역에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위치한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가맹점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제외</a:t>
            </a: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4860"/>
              </a:lnSpc>
              <a:buFont typeface="Arial"/>
              <a:buChar char="•"/>
            </a:pP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음식점이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아닌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가맹점은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제외</a:t>
            </a: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4860"/>
              </a:lnSpc>
              <a:buFont typeface="Arial"/>
              <a:buChar char="•"/>
            </a:pP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동일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업종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매출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평균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건수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상위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0.5%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가맹점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제외</a:t>
            </a: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4860"/>
              </a:lnSpc>
              <a:buFont typeface="Arial"/>
              <a:buChar char="•"/>
            </a:pP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폐업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징조만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있는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가맹점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제외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064717-B41A-43F7-9070-BB94B8B40734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개요   </a:t>
            </a:r>
            <a:r>
              <a:rPr lang="ko-KR" altLang="en-US" sz="1600" b="1" dirty="0"/>
              <a:t>데이터 분석 및 </a:t>
            </a:r>
            <a:r>
              <a:rPr lang="ko-KR" altLang="en-US" sz="1600" b="1" dirty="0" err="1"/>
              <a:t>전처리</a:t>
            </a: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조기 경보 시스템   결론 및 의의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2950" y="628650"/>
            <a:ext cx="1479519" cy="651415"/>
            <a:chOff x="0" y="0"/>
            <a:chExt cx="1972692" cy="8685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106488" y="750183"/>
            <a:ext cx="752473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37148" y="661882"/>
            <a:ext cx="594965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ko-KR" altLang="en-US" sz="3000" b="1" spc="90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조기 경보 시스템 개요</a:t>
            </a:r>
            <a:endParaRPr lang="en-US" sz="3000" b="1" spc="900" dirty="0">
              <a:solidFill>
                <a:srgbClr val="262626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65925" y="3712623"/>
            <a:ext cx="2920282" cy="2099786"/>
            <a:chOff x="0" y="0"/>
            <a:chExt cx="3893709" cy="27997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93709" cy="2799715"/>
            </a:xfrm>
            <a:custGeom>
              <a:avLst/>
              <a:gdLst/>
              <a:ahLst/>
              <a:cxnLst/>
              <a:rect l="l" t="t" r="r" b="b"/>
              <a:pathLst>
                <a:path w="3893709" h="2799715">
                  <a:moveTo>
                    <a:pt x="0" y="0"/>
                  </a:moveTo>
                  <a:lnTo>
                    <a:pt x="3200887" y="0"/>
                  </a:lnTo>
                  <a:lnTo>
                    <a:pt x="3893709" y="1399921"/>
                  </a:lnTo>
                  <a:lnTo>
                    <a:pt x="3200887" y="2799715"/>
                  </a:lnTo>
                  <a:lnTo>
                    <a:pt x="0" y="2799715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1295400" y="3695700"/>
            <a:ext cx="15829064" cy="2133632"/>
          </a:xfrm>
          <a:custGeom>
            <a:avLst/>
            <a:gdLst/>
            <a:ahLst/>
            <a:cxnLst/>
            <a:rect l="l" t="t" r="r" b="b"/>
            <a:pathLst>
              <a:path w="15829064" h="2133632">
                <a:moveTo>
                  <a:pt x="0" y="0"/>
                </a:moveTo>
                <a:lnTo>
                  <a:pt x="15829064" y="0"/>
                </a:lnTo>
                <a:lnTo>
                  <a:pt x="15829064" y="2133632"/>
                </a:lnTo>
                <a:lnTo>
                  <a:pt x="0" y="2133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46835" y="4502638"/>
            <a:ext cx="1558463" cy="500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dirty="0" err="1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모델</a:t>
            </a:r>
            <a:r>
              <a:rPr lang="en-US" sz="2700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학습</a:t>
            </a:r>
            <a:endParaRPr lang="en-US" sz="2700" dirty="0">
              <a:solidFill>
                <a:srgbClr val="40404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278610" y="4333073"/>
            <a:ext cx="3794652" cy="83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dirty="0" err="1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폐업</a:t>
            </a:r>
            <a:r>
              <a:rPr lang="en-US" sz="2700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위험</a:t>
            </a:r>
            <a:r>
              <a:rPr lang="en-US" sz="2700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ctr">
              <a:lnSpc>
                <a:spcPts val="3240"/>
              </a:lnSpc>
            </a:pPr>
            <a:r>
              <a:rPr lang="en-US" sz="2700" dirty="0" err="1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가맹점</a:t>
            </a:r>
            <a:r>
              <a:rPr lang="en-US" sz="2700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선별</a:t>
            </a:r>
            <a:endParaRPr lang="en-US" sz="2700" dirty="0">
              <a:solidFill>
                <a:srgbClr val="40404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987614" y="4281777"/>
            <a:ext cx="4758860" cy="94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각 </a:t>
            </a:r>
            <a:r>
              <a:rPr lang="en-US" sz="3000" dirty="0" err="1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가맹점</a:t>
            </a:r>
            <a:r>
              <a:rPr lang="en-US" sz="3000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 별 </a:t>
            </a:r>
          </a:p>
          <a:p>
            <a:pPr algn="ctr">
              <a:lnSpc>
                <a:spcPts val="3600"/>
              </a:lnSpc>
            </a:pPr>
            <a:r>
              <a:rPr lang="en-US" sz="3000" dirty="0" err="1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위험</a:t>
            </a:r>
            <a:r>
              <a:rPr lang="en-US" sz="3000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00" dirty="0" err="1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요인</a:t>
            </a:r>
            <a:r>
              <a:rPr lang="en-US" sz="3000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00" dirty="0" err="1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분석</a:t>
            </a:r>
            <a:endParaRPr lang="en-US" sz="3000" dirty="0">
              <a:solidFill>
                <a:srgbClr val="40404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051574" y="4281777"/>
            <a:ext cx="4959826" cy="94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LLM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컨설팅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46674" y="4145585"/>
            <a:ext cx="4559284" cy="1137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위기 신호 </a:t>
            </a:r>
          </a:p>
          <a:p>
            <a:pPr algn="ctr">
              <a:lnSpc>
                <a:spcPts val="432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솔루션 제공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74149" y="6179821"/>
            <a:ext cx="2788920" cy="119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9560" lvl="1" indent="-144780" algn="l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LGBM</a:t>
            </a:r>
          </a:p>
          <a:p>
            <a:pPr marL="289560" lvl="1" indent="-144780" algn="l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XGBoost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73740" y="6151246"/>
            <a:ext cx="2788920" cy="483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9560" lvl="1" indent="-144780" algn="l">
              <a:lnSpc>
                <a:spcPts val="43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GPT 4o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36040" y="6151246"/>
            <a:ext cx="2788920" cy="1594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9560" lvl="1" indent="-144780" algn="l">
              <a:lnSpc>
                <a:spcPts val="4320"/>
              </a:lnSpc>
              <a:buFont typeface="Arial"/>
              <a:buChar char="•"/>
            </a:pPr>
            <a:r>
              <a:rPr lang="ko-KR" altLang="en-US" sz="24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소상공인</a:t>
            </a:r>
            <a:endParaRPr lang="en-US" altLang="ko-KR" sz="24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289560" lvl="1" indent="-144780" algn="l">
              <a:lnSpc>
                <a:spcPts val="4320"/>
              </a:lnSpc>
              <a:buFont typeface="Arial"/>
              <a:buChar char="•"/>
            </a:pPr>
            <a:r>
              <a:rPr lang="ko-KR" altLang="en-US" sz="24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월 </a:t>
            </a:r>
            <a:r>
              <a:rPr lang="en-US" altLang="ko-KR" sz="24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  <a:r>
              <a:rPr lang="ko-KR" altLang="en-US" sz="24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회</a:t>
            </a:r>
            <a:endParaRPr lang="en-US" sz="24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289560" lvl="1" indent="-144780" algn="l">
              <a:lnSpc>
                <a:spcPts val="4320"/>
              </a:lnSpc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문자</a:t>
            </a:r>
            <a:r>
              <a:rPr lang="en-US" sz="24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메시지</a:t>
            </a:r>
            <a:r>
              <a:rPr lang="en-US" sz="24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발송</a:t>
            </a:r>
            <a:endParaRPr lang="en-US" sz="24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711440" y="6179820"/>
            <a:ext cx="2788920" cy="2137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9560" lvl="1" indent="-144780" algn="l">
              <a:lnSpc>
                <a:spcPts val="4320"/>
              </a:lnSpc>
              <a:buFont typeface="Arial"/>
              <a:buChar char="•"/>
            </a:pPr>
            <a:r>
              <a:rPr lang="ko-KR" alt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위험 지수</a:t>
            </a:r>
            <a:endParaRPr lang="en-US" altLang="ko-KR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289560" lvl="1" indent="-144780">
              <a:lnSpc>
                <a:spcPts val="4320"/>
              </a:lnSpc>
              <a:buFont typeface="Arial"/>
              <a:buChar char="•"/>
            </a:pPr>
            <a:r>
              <a:rPr lang="ko-KR" alt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위험 요인 </a:t>
            </a:r>
            <a:endParaRPr lang="en-US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289560" lvl="1" indent="-144780" algn="l">
              <a:lnSpc>
                <a:spcPts val="432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SHAP value </a:t>
            </a:r>
            <a:endParaRPr lang="en-US" altLang="ko-KR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289560" lvl="1" indent="-144780">
              <a:lnSpc>
                <a:spcPts val="4320"/>
              </a:lnSpc>
              <a:buFont typeface="Arial"/>
              <a:buChar char="•"/>
            </a:pPr>
            <a:endParaRPr lang="en-US" altLang="ko-KR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C46775-3EDC-BAE3-7A4F-140D5A973781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개요   데이터 분석 및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</a:rPr>
              <a:t>전처리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</a:t>
            </a:r>
            <a:r>
              <a:rPr lang="ko-KR" altLang="en-US" sz="1600" b="1" dirty="0"/>
              <a:t>조기 경보 시스템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결론 및 의의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38400" y="3033350"/>
            <a:ext cx="4900361" cy="4900360"/>
            <a:chOff x="0" y="0"/>
            <a:chExt cx="8007772" cy="80077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07731" cy="8007731"/>
            </a:xfrm>
            <a:custGeom>
              <a:avLst/>
              <a:gdLst/>
              <a:ahLst/>
              <a:cxnLst/>
              <a:rect l="l" t="t" r="r" b="b"/>
              <a:pathLst>
                <a:path w="8007731" h="8007731">
                  <a:moveTo>
                    <a:pt x="0" y="4003929"/>
                  </a:moveTo>
                  <a:cubicBezTo>
                    <a:pt x="0" y="1792605"/>
                    <a:pt x="1792605" y="0"/>
                    <a:pt x="4003929" y="0"/>
                  </a:cubicBezTo>
                  <a:cubicBezTo>
                    <a:pt x="6215253" y="0"/>
                    <a:pt x="8007731" y="1792605"/>
                    <a:pt x="8007731" y="4003929"/>
                  </a:cubicBezTo>
                  <a:cubicBezTo>
                    <a:pt x="8007731" y="6215253"/>
                    <a:pt x="6215126" y="8007731"/>
                    <a:pt x="4003929" y="8007731"/>
                  </a:cubicBezTo>
                  <a:cubicBezTo>
                    <a:pt x="1792732" y="8007731"/>
                    <a:pt x="0" y="6215126"/>
                    <a:pt x="0" y="400392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8734927" y="3033350"/>
            <a:ext cx="8305800" cy="12494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시계열</a:t>
            </a: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데이터를</a:t>
            </a: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학습하고</a:t>
            </a: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예측</a:t>
            </a:r>
            <a:r>
              <a:rPr lang="en-US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가능</a:t>
            </a:r>
            <a:endParaRPr lang="en-US" sz="3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대규모</a:t>
            </a:r>
            <a:r>
              <a:rPr lang="en-US" altLang="ko-KR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데이터</a:t>
            </a:r>
            <a:r>
              <a:rPr lang="en-US" altLang="ko-KR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처리</a:t>
            </a:r>
            <a:r>
              <a:rPr lang="en-US" altLang="ko-KR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속도가</a:t>
            </a:r>
            <a:r>
              <a:rPr lang="en-US" altLang="ko-KR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빠름</a:t>
            </a:r>
            <a:endParaRPr lang="en-US" altLang="ko-KR" sz="3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복잡한</a:t>
            </a:r>
            <a:r>
              <a:rPr lang="en-US" altLang="ko-KR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패턴</a:t>
            </a:r>
            <a:r>
              <a:rPr lang="en-US" altLang="ko-KR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학습</a:t>
            </a:r>
            <a:r>
              <a:rPr lang="en-US" altLang="ko-KR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가능</a:t>
            </a:r>
            <a:endParaRPr lang="en-US" altLang="ko-KR" sz="3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이상치의</a:t>
            </a:r>
            <a:r>
              <a:rPr lang="en-US" altLang="ko-KR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영향이</a:t>
            </a:r>
            <a:r>
              <a:rPr lang="en-US" altLang="ko-KR" sz="3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적음</a:t>
            </a:r>
            <a:endParaRPr lang="en-US" altLang="ko-KR" sz="3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altLang="ko-KR" sz="3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altLang="ko-KR" sz="3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indent="-457200" algn="l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indent="-457200" algn="l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ct val="250000"/>
              </a:lnSpc>
            </a:pPr>
            <a:endParaRPr lang="en-US" sz="3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ct val="250000"/>
              </a:lnSpc>
            </a:pPr>
            <a:endParaRPr lang="en-US" sz="3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ct val="250000"/>
              </a:lnSpc>
            </a:pPr>
            <a:endParaRPr lang="en-US" sz="3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252021" y="4692955"/>
            <a:ext cx="3273118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XGBoost</a:t>
            </a:r>
            <a:endParaRPr lang="en-US" sz="5000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6000"/>
              </a:lnSpc>
            </a:pPr>
            <a:r>
              <a:rPr lang="en-US" sz="50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LGBM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42950" y="628650"/>
            <a:ext cx="1479551" cy="651392"/>
            <a:chOff x="0" y="0"/>
            <a:chExt cx="1972734" cy="8685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106488" y="759708"/>
            <a:ext cx="752473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37149" y="680932"/>
            <a:ext cx="209466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9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모델선정</a:t>
            </a:r>
            <a:endParaRPr lang="en-US" sz="3000" b="1" spc="9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8E676-B0E7-CDC3-6E44-C42696753ED2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개요   데이터 분석 및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</a:rPr>
              <a:t>전처리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</a:t>
            </a:r>
            <a:r>
              <a:rPr lang="ko-KR" altLang="en-US" sz="1600" b="1" dirty="0"/>
              <a:t>조기 경보 시스템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결론 및 의의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399546" y="2152888"/>
          <a:ext cx="7543800" cy="69723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1284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9107" marR="49107" marT="49107" marB="49107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XGBoost</a:t>
                      </a:r>
                      <a:endParaRPr lang="en-US" sz="1100"/>
                    </a:p>
                  </a:txBody>
                  <a:tcPr marL="49107" marR="49107" marT="49107" marB="49107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LGBM</a:t>
                      </a:r>
                      <a:endParaRPr lang="en-US" sz="1100"/>
                    </a:p>
                  </a:txBody>
                  <a:tcPr marL="49107" marR="49107" marT="49107" marB="49107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685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정확도</a:t>
                      </a:r>
                      <a:endParaRPr lang="en-US" sz="1100"/>
                    </a:p>
                  </a:txBody>
                  <a:tcPr marL="49107" marR="49107" marT="49107" marB="49107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0.996</a:t>
                      </a:r>
                      <a:endParaRPr lang="en-US" sz="1100"/>
                    </a:p>
                  </a:txBody>
                  <a:tcPr marL="49107" marR="49107" marT="49107" marB="49107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0.997</a:t>
                      </a:r>
                      <a:endParaRPr lang="en-US" sz="1100"/>
                    </a:p>
                  </a:txBody>
                  <a:tcPr marL="49107" marR="49107" marT="49107" marB="49107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6685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정밀도</a:t>
                      </a:r>
                      <a:endParaRPr lang="en-US" sz="1100"/>
                    </a:p>
                  </a:txBody>
                  <a:tcPr marL="49107" marR="49107" marT="49107" marB="49107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0.643</a:t>
                      </a:r>
                      <a:endParaRPr lang="en-US" sz="1100"/>
                    </a:p>
                  </a:txBody>
                  <a:tcPr marL="49107" marR="49107" marT="49107" marB="49107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0.685</a:t>
                      </a:r>
                      <a:endParaRPr lang="en-US" sz="1100"/>
                    </a:p>
                  </a:txBody>
                  <a:tcPr marL="49107" marR="49107" marT="49107" marB="49107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6685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재현률</a:t>
                      </a:r>
                      <a:endParaRPr lang="en-US" sz="1100"/>
                    </a:p>
                  </a:txBody>
                  <a:tcPr marL="49107" marR="49107" marT="49107" marB="49107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0.507</a:t>
                      </a:r>
                      <a:endParaRPr lang="en-US" sz="1100"/>
                    </a:p>
                  </a:txBody>
                  <a:tcPr marL="49107" marR="49107" marT="49107" marB="49107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0.521</a:t>
                      </a:r>
                      <a:endParaRPr lang="en-US" sz="1100"/>
                    </a:p>
                  </a:txBody>
                  <a:tcPr marL="49107" marR="49107" marT="49107" marB="49107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6685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F1 점수</a:t>
                      </a:r>
                      <a:endParaRPr lang="en-US" sz="1100"/>
                    </a:p>
                  </a:txBody>
                  <a:tcPr marL="49107" marR="49107" marT="49107" marB="49107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0.567</a:t>
                      </a:r>
                      <a:endParaRPr lang="en-US" sz="1100"/>
                    </a:p>
                  </a:txBody>
                  <a:tcPr marL="49107" marR="49107" marT="49107" marB="49107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0.592</a:t>
                      </a:r>
                      <a:endParaRPr lang="en-US" sz="1100"/>
                    </a:p>
                  </a:txBody>
                  <a:tcPr marL="49107" marR="49107" marT="49107" marB="49107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4276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40404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매튜 상관 계수</a:t>
                      </a:r>
                      <a:endParaRPr lang="en-US" sz="1100"/>
                    </a:p>
                  </a:txBody>
                  <a:tcPr marL="49107" marR="49107" marT="49107" marB="49107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0.569</a:t>
                      </a:r>
                      <a:endParaRPr lang="en-US" sz="1100"/>
                    </a:p>
                  </a:txBody>
                  <a:tcPr marL="49107" marR="49107" marT="49107" marB="49107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0.596</a:t>
                      </a:r>
                      <a:endParaRPr lang="en-US" sz="1100"/>
                    </a:p>
                  </a:txBody>
                  <a:tcPr marL="49107" marR="49107" marT="49107" marB="49107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742950" y="628650"/>
            <a:ext cx="1479551" cy="651392"/>
            <a:chOff x="0" y="0"/>
            <a:chExt cx="1972734" cy="8685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106488" y="759708"/>
            <a:ext cx="752473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37149" y="680932"/>
            <a:ext cx="209466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9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모델성능</a:t>
            </a:r>
            <a:endParaRPr lang="en-US" sz="3000" b="1" spc="9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0011302" y="4857466"/>
            <a:ext cx="1163781" cy="1607127"/>
            <a:chOff x="0" y="0"/>
            <a:chExt cx="1551708" cy="21428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51686" cy="2142744"/>
            </a:xfrm>
            <a:custGeom>
              <a:avLst/>
              <a:gdLst/>
              <a:ahLst/>
              <a:cxnLst/>
              <a:rect l="l" t="t" r="r" b="b"/>
              <a:pathLst>
                <a:path w="1551686" h="2142744">
                  <a:moveTo>
                    <a:pt x="0" y="535686"/>
                  </a:moveTo>
                  <a:lnTo>
                    <a:pt x="775843" y="535686"/>
                  </a:lnTo>
                  <a:lnTo>
                    <a:pt x="775843" y="0"/>
                  </a:lnTo>
                  <a:lnTo>
                    <a:pt x="1551686" y="1071372"/>
                  </a:lnTo>
                  <a:lnTo>
                    <a:pt x="775843" y="2142744"/>
                  </a:lnTo>
                  <a:lnTo>
                    <a:pt x="775843" y="1607185"/>
                  </a:lnTo>
                  <a:lnTo>
                    <a:pt x="0" y="160718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1584352" y="4489416"/>
            <a:ext cx="5674948" cy="210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0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LGBM</a:t>
            </a:r>
          </a:p>
          <a:p>
            <a:pPr algn="ctr">
              <a:lnSpc>
                <a:spcPts val="4860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(Light Gradient Boosting Model)</a:t>
            </a:r>
          </a:p>
          <a:p>
            <a:pPr algn="ctr">
              <a:lnSpc>
                <a:spcPts val="4860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선정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A55CE8-3B9E-8498-D124-59CD273B6E6B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개요   데이터 분석 및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</a:rPr>
              <a:t>전처리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</a:t>
            </a:r>
            <a:r>
              <a:rPr lang="ko-KR" altLang="en-US" sz="1600" b="1" dirty="0"/>
              <a:t>조기 경보 시스템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결론 및 의의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2950" y="628650"/>
            <a:ext cx="1479551" cy="651392"/>
            <a:chOff x="0" y="0"/>
            <a:chExt cx="1972734" cy="8685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106488" y="759708"/>
            <a:ext cx="752473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37148" y="680932"/>
            <a:ext cx="3968451" cy="476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9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학습</a:t>
            </a:r>
            <a:r>
              <a:rPr lang="en-US" sz="3000" b="1" spc="9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00" b="1" spc="9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결과</a:t>
            </a:r>
            <a:endParaRPr lang="en-US" sz="3000" b="1" spc="9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B0B5C7-298E-849E-F927-E6E52C0E1992}"/>
              </a:ext>
            </a:extLst>
          </p:cNvPr>
          <p:cNvSpPr txBox="1"/>
          <p:nvPr/>
        </p:nvSpPr>
        <p:spPr>
          <a:xfrm>
            <a:off x="1482709" y="1257300"/>
            <a:ext cx="9258300" cy="437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0" i="0" dirty="0">
                <a:solidFill>
                  <a:srgbClr val="24292F"/>
                </a:solidFill>
                <a:effectLst/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SHAP (</a:t>
            </a:r>
            <a:r>
              <a:rPr lang="en-US" altLang="ko-KR" sz="2800" b="0" i="0" dirty="0" err="1">
                <a:solidFill>
                  <a:srgbClr val="24292F"/>
                </a:solidFill>
                <a:effectLst/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SHapley</a:t>
            </a:r>
            <a:r>
              <a:rPr lang="en-US" altLang="ko-KR" sz="2800" b="0" i="0" dirty="0">
                <a:solidFill>
                  <a:srgbClr val="24292F"/>
                </a:solidFill>
                <a:effectLst/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 Additive </a:t>
            </a:r>
            <a:r>
              <a:rPr lang="en-US" altLang="ko-KR" sz="2800" b="0" i="0" dirty="0" err="1">
                <a:solidFill>
                  <a:srgbClr val="24292F"/>
                </a:solidFill>
                <a:effectLst/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exPlanations</a:t>
            </a:r>
            <a:r>
              <a:rPr lang="en-US" altLang="ko-KR" sz="2800" b="0" i="0" dirty="0">
                <a:solidFill>
                  <a:srgbClr val="24292F"/>
                </a:solidFill>
                <a:effectLst/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Arimo" panose="020B0600000101010101" charset="0"/>
                <a:cs typeface="Arimo" panose="020B0600000101010101" charset="0"/>
              </a:rPr>
              <a:t>각 변수가 예측에 기여하는 정도를 분석하는 도구</a:t>
            </a:r>
            <a:endParaRPr lang="en-US" altLang="ko-KR" sz="2000" dirty="0">
              <a:latin typeface="Arimo" panose="020B0600000101010101" charset="0"/>
              <a:cs typeface="Arimo" panose="020B0600000101010101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Arimo" panose="020B0600000101010101" charset="0"/>
                <a:cs typeface="Arimo" panose="020B0600000101010101" charset="0"/>
              </a:rPr>
              <a:t>예측 확률 값</a:t>
            </a:r>
            <a:r>
              <a:rPr lang="en-US" altLang="ko-KR" sz="2000" dirty="0"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(predict</a:t>
            </a:r>
            <a:r>
              <a:rPr lang="ko-KR" altLang="en-US" sz="2000" dirty="0">
                <a:latin typeface="Arimo" panose="020B0600000101010101" charset="0"/>
                <a:cs typeface="Arimo" panose="020B0600000101010101" charset="0"/>
              </a:rPr>
              <a:t> </a:t>
            </a:r>
            <a:r>
              <a:rPr lang="en-US" altLang="ko-KR" sz="2000" dirty="0"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probability): </a:t>
            </a:r>
            <a:r>
              <a:rPr lang="ko-KR" altLang="en-US" sz="2000" dirty="0"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폐업 위험이라고 예측할 확률</a:t>
            </a:r>
            <a:endParaRPr lang="en-US" altLang="ko-KR" sz="2000" dirty="0">
              <a:latin typeface="Arimo" panose="020B0600000101010101" charset="0"/>
              <a:ea typeface="Arimo" panose="020B0600000101010101" charset="0"/>
              <a:cs typeface="Arimo" panose="020B0600000101010101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폐업 위험 요인 분석</a:t>
            </a:r>
            <a:r>
              <a:rPr lang="en-US" altLang="ko-KR" sz="2000" dirty="0"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: </a:t>
            </a:r>
            <a:r>
              <a:rPr lang="ko-KR" altLang="en-US" sz="2000" dirty="0"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각</a:t>
            </a:r>
            <a:r>
              <a:rPr lang="en-US" altLang="ko-KR" sz="2000" dirty="0"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 </a:t>
            </a:r>
            <a:r>
              <a:rPr lang="ko-KR" altLang="en-US" sz="2000" dirty="0"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변수가 예측에 기여하는 정도</a:t>
            </a:r>
            <a:r>
              <a:rPr lang="en-US" altLang="ko-KR" sz="2000" dirty="0"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(</a:t>
            </a:r>
            <a:r>
              <a:rPr lang="ko-KR" altLang="en-US" sz="2000" dirty="0"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기여도</a:t>
            </a:r>
            <a:r>
              <a:rPr lang="en-US" altLang="ko-KR" sz="2000" dirty="0"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Summary Plot: </a:t>
            </a:r>
            <a:r>
              <a:rPr lang="ko-KR" altLang="en-US" sz="2000" dirty="0">
                <a:latin typeface="Arimo" panose="020B0600000101010101" charset="0"/>
                <a:ea typeface="Arimo" panose="020B0600000101010101" charset="0"/>
                <a:cs typeface="Arimo" panose="020B0600000101010101" charset="0"/>
              </a:rPr>
              <a:t>변수 기여도와 가맹점 데이터 값을 결합 및 시각화</a:t>
            </a:r>
            <a:endParaRPr lang="en-US" altLang="ko-KR" sz="2000" dirty="0">
              <a:latin typeface="Arimo" panose="020B0600000101010101" charset="0"/>
              <a:ea typeface="Arimo" panose="020B0600000101010101" charset="0"/>
              <a:cs typeface="Arimo" panose="020B0600000101010101" charset="0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latin typeface="Arimo" panose="020B0600000101010101" charset="0"/>
              <a:ea typeface="Arimo" panose="020B0600000101010101" charset="0"/>
              <a:cs typeface="Arimo" panose="020B0600000101010101" charset="0"/>
            </a:endParaRPr>
          </a:p>
          <a:p>
            <a:pPr>
              <a:lnSpc>
                <a:spcPct val="150000"/>
              </a:lnSpc>
            </a:pPr>
            <a:endParaRPr lang="ko-KR" altLang="en-US" sz="2000" dirty="0">
              <a:latin typeface="Arimo" panose="020B0600000101010101" charset="0"/>
              <a:cs typeface="Arimo" panose="020B0600000101010101" charset="0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latin typeface="Arimo" panose="020B0600000101010101" charset="0"/>
              <a:cs typeface="Arimo" panose="020B0600000101010101" charset="0"/>
            </a:endParaRPr>
          </a:p>
          <a:p>
            <a:pPr>
              <a:lnSpc>
                <a:spcPct val="150000"/>
              </a:lnSpc>
            </a:pPr>
            <a:endParaRPr lang="ko-KR" altLang="en-US" sz="2000" dirty="0">
              <a:latin typeface="Arimo" panose="020B0600000101010101" charset="0"/>
              <a:cs typeface="Arimo" panose="020B0600000101010101" charset="0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00CD3DB-BD8A-669D-CE98-2917C7EC107D}"/>
              </a:ext>
            </a:extLst>
          </p:cNvPr>
          <p:cNvGrpSpPr/>
          <p:nvPr/>
        </p:nvGrpSpPr>
        <p:grpSpPr>
          <a:xfrm>
            <a:off x="9777414" y="883791"/>
            <a:ext cx="7767636" cy="8886825"/>
            <a:chOff x="10210800" y="949583"/>
            <a:chExt cx="7767636" cy="88868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220449B8-F25E-64F2-8E54-419CD0907337}"/>
                </a:ext>
              </a:extLst>
            </p:cNvPr>
            <p:cNvGrpSpPr/>
            <p:nvPr/>
          </p:nvGrpSpPr>
          <p:grpSpPr>
            <a:xfrm>
              <a:off x="10210800" y="949583"/>
              <a:ext cx="7767636" cy="8886825"/>
              <a:chOff x="10210800" y="949583"/>
              <a:chExt cx="7767636" cy="8886825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EB15E957-7937-F208-8033-91D0451B10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482261" y="949583"/>
                <a:ext cx="7496175" cy="8886825"/>
              </a:xfrm>
              <a:prstGeom prst="rect">
                <a:avLst/>
              </a:prstGeom>
            </p:spPr>
          </p:pic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3ABC1E6-244C-4D65-C558-4923BD249CD3}"/>
                  </a:ext>
                </a:extLst>
              </p:cNvPr>
              <p:cNvSpPr/>
              <p:nvPr/>
            </p:nvSpPr>
            <p:spPr>
              <a:xfrm>
                <a:off x="10210800" y="1245224"/>
                <a:ext cx="5053714" cy="79368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022A79D-AEBC-5D0E-8387-C4DE9B241F2D}"/>
                </a:ext>
              </a:extLst>
            </p:cNvPr>
            <p:cNvSpPr txBox="1"/>
            <p:nvPr/>
          </p:nvSpPr>
          <p:spPr>
            <a:xfrm>
              <a:off x="10603614" y="1380860"/>
              <a:ext cx="4648200" cy="8182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영업 개월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임대료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당월 매출 건수 평균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동일 업종 내 매출 순위 비율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최근 </a:t>
              </a:r>
              <a:r>
                <a:rPr lang="en-US" altLang="ko-KR" sz="1400" b="1" dirty="0">
                  <a:latin typeface="+mn-ea"/>
                </a:rPr>
                <a:t>6</a:t>
              </a:r>
              <a:r>
                <a:rPr lang="ko-KR" altLang="en-US" sz="1400" b="1" dirty="0">
                  <a:latin typeface="+mn-ea"/>
                </a:rPr>
                <a:t>개월 동일 업종 내 매출금액 비율 변동성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전체 점포 수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유동인구 </a:t>
              </a:r>
              <a:r>
                <a:rPr lang="en-US" altLang="ko-KR" sz="1400" b="1" dirty="0">
                  <a:latin typeface="+mn-ea"/>
                </a:rPr>
                <a:t>(</a:t>
              </a:r>
              <a:r>
                <a:rPr lang="ko-KR" altLang="en-US" sz="1400" b="1" dirty="0">
                  <a:latin typeface="+mn-ea"/>
                </a:rPr>
                <a:t>명</a:t>
              </a:r>
              <a:r>
                <a:rPr lang="en-US" altLang="ko-KR" sz="1400" b="1" dirty="0">
                  <a:latin typeface="+mn-ea"/>
                </a:rPr>
                <a:t>/ha)</a:t>
              </a: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최근</a:t>
              </a:r>
              <a:r>
                <a:rPr lang="en-US" altLang="ko-KR" sz="1400" b="1" dirty="0">
                  <a:latin typeface="+mn-ea"/>
                </a:rPr>
                <a:t> 6</a:t>
              </a:r>
              <a:r>
                <a:rPr lang="ko-KR" altLang="en-US" sz="1400" b="1" dirty="0">
                  <a:latin typeface="+mn-ea"/>
                </a:rPr>
                <a:t>개월 동일 업종 내 매출 건수 평균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역세권 점수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최근 </a:t>
              </a:r>
              <a:r>
                <a:rPr lang="en-US" altLang="ko-KR" sz="1400" b="1" dirty="0">
                  <a:latin typeface="+mn-ea"/>
                </a:rPr>
                <a:t>6</a:t>
              </a:r>
              <a:r>
                <a:rPr lang="ko-KR" altLang="en-US" sz="1400" b="1" dirty="0">
                  <a:latin typeface="+mn-ea"/>
                </a:rPr>
                <a:t>개월 동일 업종 내 매출 순위 비율 평균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최근 </a:t>
              </a:r>
              <a:r>
                <a:rPr lang="en-US" altLang="ko-KR" sz="1400" b="1" dirty="0">
                  <a:latin typeface="+mn-ea"/>
                </a:rPr>
                <a:t>6</a:t>
              </a:r>
              <a:r>
                <a:rPr lang="ko-KR" altLang="en-US" sz="1400" b="1" dirty="0">
                  <a:latin typeface="+mn-ea"/>
                </a:rPr>
                <a:t>개월 동일 업종 내 매출 건수 비율 평균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최근 </a:t>
              </a:r>
              <a:r>
                <a:rPr lang="en-US" altLang="ko-KR" sz="1400" b="1" dirty="0">
                  <a:latin typeface="+mn-ea"/>
                </a:rPr>
                <a:t>3</a:t>
              </a:r>
              <a:r>
                <a:rPr lang="ko-KR" altLang="en-US" sz="1400" b="1" dirty="0">
                  <a:latin typeface="+mn-ea"/>
                </a:rPr>
                <a:t>개월 동일 업종 내 매출 순위 비율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최근 </a:t>
              </a:r>
              <a:r>
                <a:rPr lang="en-US" altLang="ko-KR" sz="1400" b="1" dirty="0">
                  <a:latin typeface="+mn-ea"/>
                </a:rPr>
                <a:t>6</a:t>
              </a:r>
              <a:r>
                <a:rPr lang="ko-KR" altLang="en-US" sz="1400" b="1" dirty="0">
                  <a:latin typeface="+mn-ea"/>
                </a:rPr>
                <a:t>개월 </a:t>
              </a:r>
              <a:r>
                <a:rPr lang="ko-KR" altLang="en-US" sz="1400" b="1" dirty="0" err="1">
                  <a:latin typeface="+mn-ea"/>
                </a:rPr>
                <a:t>객단가</a:t>
              </a:r>
              <a:r>
                <a:rPr lang="ko-KR" altLang="en-US" sz="1400" b="1" dirty="0">
                  <a:latin typeface="+mn-ea"/>
                </a:rPr>
                <a:t> 구간 평균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최근 </a:t>
              </a:r>
              <a:r>
                <a:rPr lang="en-US" altLang="ko-KR" sz="1400" b="1" dirty="0">
                  <a:latin typeface="+mn-ea"/>
                </a:rPr>
                <a:t>3</a:t>
              </a:r>
              <a:r>
                <a:rPr lang="ko-KR" altLang="en-US" sz="1400" b="1" dirty="0">
                  <a:latin typeface="+mn-ea"/>
                </a:rPr>
                <a:t>개월 동일 업종 내 매출 건수 비율 변동성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당월 매출 금액 평균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최근 </a:t>
              </a:r>
              <a:r>
                <a:rPr lang="en-US" altLang="ko-KR" sz="1400" b="1" dirty="0">
                  <a:latin typeface="+mn-ea"/>
                </a:rPr>
                <a:t>6</a:t>
              </a:r>
              <a:r>
                <a:rPr lang="ko-KR" altLang="en-US" sz="1400" b="1" dirty="0">
                  <a:latin typeface="+mn-ea"/>
                </a:rPr>
                <a:t>개월 동일 업종 내 매출 금액 비율 평균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동일 업종 내 매출 금액 비율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동일 업종 내 매출 건수 비율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동일 업종 내 매출 순위 비율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r>
                <a:rPr lang="ko-KR" altLang="en-US" sz="1400" b="1" dirty="0">
                  <a:latin typeface="+mn-ea"/>
                </a:rPr>
                <a:t>최근 </a:t>
              </a:r>
              <a:r>
                <a:rPr lang="en-US" altLang="ko-KR" sz="1400" b="1" dirty="0">
                  <a:latin typeface="+mn-ea"/>
                </a:rPr>
                <a:t>3</a:t>
              </a:r>
              <a:r>
                <a:rPr lang="ko-KR" altLang="en-US" sz="1400" b="1" dirty="0">
                  <a:latin typeface="+mn-ea"/>
                </a:rPr>
                <a:t>개월 동일 업종 매출 금액 비율 변동성</a:t>
              </a:r>
              <a:endParaRPr lang="en-US" altLang="ko-KR" sz="1400" b="1" dirty="0">
                <a:latin typeface="+mn-ea"/>
              </a:endParaRPr>
            </a:p>
            <a:p>
              <a:pPr algn="r">
                <a:lnSpc>
                  <a:spcPct val="180000"/>
                </a:lnSpc>
              </a:pPr>
              <a:endParaRPr lang="ko-KR" altLang="en-US" sz="1400" b="1" dirty="0">
                <a:latin typeface="+mn-ea"/>
              </a:endParaRPr>
            </a:p>
          </p:txBody>
        </p:sp>
      </p:grpSp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251DD053-CE4D-122B-6942-53278B7C43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6540838"/>
              </p:ext>
            </p:extLst>
          </p:nvPr>
        </p:nvGraphicFramePr>
        <p:xfrm>
          <a:off x="768350" y="4305300"/>
          <a:ext cx="8219858" cy="5747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5C569D96-8BF5-6113-E198-AD201A7196CA}"/>
              </a:ext>
            </a:extLst>
          </p:cNvPr>
          <p:cNvSpPr txBox="1"/>
          <p:nvPr/>
        </p:nvSpPr>
        <p:spPr>
          <a:xfrm>
            <a:off x="6410414" y="4457700"/>
            <a:ext cx="2491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latin typeface="Arimo" panose="020B0600000101010101" charset="0"/>
                <a:cs typeface="Arimo" panose="020B0600000101010101" charset="0"/>
              </a:rPr>
              <a:t>예측 확률 값</a:t>
            </a:r>
            <a:r>
              <a:rPr lang="en-US" altLang="ko-KR" sz="1800" b="1" dirty="0">
                <a:latin typeface="Arimo" panose="020B0600000101010101" charset="0"/>
                <a:cs typeface="Arimo" panose="020B0600000101010101" charset="0"/>
              </a:rPr>
              <a:t>: 0.7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87B340-2E4D-40AF-19EB-3E6F5400A8D4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개요   데이터 분석 및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</a:rPr>
              <a:t>전처리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</a:t>
            </a:r>
            <a:r>
              <a:rPr lang="ko-KR" altLang="en-US" sz="1600" b="1" dirty="0"/>
              <a:t>조기 경보 시스템</a:t>
            </a: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결론 및 의의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11025-0B88-550C-334A-2AFA3B39C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6">
            <a:extLst>
              <a:ext uri="{FF2B5EF4-FFF2-40B4-BE49-F238E27FC236}">
                <a16:creationId xmlns:a16="http://schemas.microsoft.com/office/drawing/2014/main" id="{574C2BC2-8B05-B081-7216-AE213A11B5D9}"/>
              </a:ext>
            </a:extLst>
          </p:cNvPr>
          <p:cNvGrpSpPr/>
          <p:nvPr/>
        </p:nvGrpSpPr>
        <p:grpSpPr>
          <a:xfrm>
            <a:off x="7208880" y="2171700"/>
            <a:ext cx="5559002" cy="5202046"/>
            <a:chOff x="0" y="0"/>
            <a:chExt cx="5421998" cy="6936062"/>
          </a:xfrm>
        </p:grpSpPr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CBFB4154-A487-D0C9-3791-0112058DCC72}"/>
                </a:ext>
              </a:extLst>
            </p:cNvPr>
            <p:cNvSpPr/>
            <p:nvPr/>
          </p:nvSpPr>
          <p:spPr>
            <a:xfrm>
              <a:off x="0" y="0"/>
              <a:ext cx="5422011" cy="6936105"/>
            </a:xfrm>
            <a:custGeom>
              <a:avLst/>
              <a:gdLst/>
              <a:ahLst/>
              <a:cxnLst/>
              <a:rect l="l" t="t" r="r" b="b"/>
              <a:pathLst>
                <a:path w="5422011" h="6936105">
                  <a:moveTo>
                    <a:pt x="0" y="1505839"/>
                  </a:moveTo>
                  <a:cubicBezTo>
                    <a:pt x="0" y="674243"/>
                    <a:pt x="674243" y="0"/>
                    <a:pt x="1505839" y="0"/>
                  </a:cubicBezTo>
                  <a:lnTo>
                    <a:pt x="3916172" y="0"/>
                  </a:lnTo>
                  <a:cubicBezTo>
                    <a:pt x="4747768" y="0"/>
                    <a:pt x="5422011" y="674243"/>
                    <a:pt x="5422011" y="1505839"/>
                  </a:cubicBezTo>
                  <a:lnTo>
                    <a:pt x="5422011" y="5430139"/>
                  </a:lnTo>
                  <a:cubicBezTo>
                    <a:pt x="5422011" y="6261735"/>
                    <a:pt x="4747768" y="6935978"/>
                    <a:pt x="3916172" y="6935978"/>
                  </a:cubicBezTo>
                  <a:lnTo>
                    <a:pt x="1505839" y="6935978"/>
                  </a:lnTo>
                  <a:cubicBezTo>
                    <a:pt x="674243" y="6936105"/>
                    <a:pt x="0" y="6261862"/>
                    <a:pt x="0" y="543026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EB81C546-4DB1-57AE-980A-EBDB500626CD}"/>
              </a:ext>
            </a:extLst>
          </p:cNvPr>
          <p:cNvGrpSpPr/>
          <p:nvPr/>
        </p:nvGrpSpPr>
        <p:grpSpPr>
          <a:xfrm>
            <a:off x="742950" y="628650"/>
            <a:ext cx="1479551" cy="651392"/>
            <a:chOff x="0" y="0"/>
            <a:chExt cx="1972734" cy="86852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1B494A9-5FE7-BB40-5380-8FB170706904}"/>
                </a:ext>
              </a:extLst>
            </p:cNvPr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FEBD7DFF-F8A1-1BE9-B531-5B7F216BB9C7}"/>
              </a:ext>
            </a:extLst>
          </p:cNvPr>
          <p:cNvSpPr txBox="1"/>
          <p:nvPr/>
        </p:nvSpPr>
        <p:spPr>
          <a:xfrm>
            <a:off x="1061766" y="759708"/>
            <a:ext cx="841920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3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D6D19F3-EF5C-DD5B-9949-371812960407}"/>
              </a:ext>
            </a:extLst>
          </p:cNvPr>
          <p:cNvSpPr txBox="1"/>
          <p:nvPr/>
        </p:nvSpPr>
        <p:spPr>
          <a:xfrm>
            <a:off x="2737149" y="680932"/>
            <a:ext cx="388361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LLM </a:t>
            </a:r>
            <a:r>
              <a:rPr lang="ko-KR" altLang="en-US" sz="3000" b="1" spc="900" dirty="0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컨설팅</a:t>
            </a:r>
            <a:endParaRPr lang="en-US" sz="3000" b="1" spc="900" dirty="0">
              <a:solidFill>
                <a:srgbClr val="262626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CF3BEA8-85CB-D007-8F80-EFCD28C6A3C0}"/>
              </a:ext>
            </a:extLst>
          </p:cNvPr>
          <p:cNvGrpSpPr/>
          <p:nvPr/>
        </p:nvGrpSpPr>
        <p:grpSpPr>
          <a:xfrm>
            <a:off x="1061767" y="2171700"/>
            <a:ext cx="5559002" cy="5202046"/>
            <a:chOff x="0" y="0"/>
            <a:chExt cx="5421998" cy="693606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01F8DAA-9EA1-38F0-5536-4871B4C561F2}"/>
                </a:ext>
              </a:extLst>
            </p:cNvPr>
            <p:cNvSpPr/>
            <p:nvPr/>
          </p:nvSpPr>
          <p:spPr>
            <a:xfrm>
              <a:off x="0" y="0"/>
              <a:ext cx="5422011" cy="6936105"/>
            </a:xfrm>
            <a:custGeom>
              <a:avLst/>
              <a:gdLst/>
              <a:ahLst/>
              <a:cxnLst/>
              <a:rect l="l" t="t" r="r" b="b"/>
              <a:pathLst>
                <a:path w="5422011" h="6936105">
                  <a:moveTo>
                    <a:pt x="0" y="1505839"/>
                  </a:moveTo>
                  <a:cubicBezTo>
                    <a:pt x="0" y="674243"/>
                    <a:pt x="674243" y="0"/>
                    <a:pt x="1505839" y="0"/>
                  </a:cubicBezTo>
                  <a:lnTo>
                    <a:pt x="3916172" y="0"/>
                  </a:lnTo>
                  <a:cubicBezTo>
                    <a:pt x="4747768" y="0"/>
                    <a:pt x="5422011" y="674243"/>
                    <a:pt x="5422011" y="1505839"/>
                  </a:cubicBezTo>
                  <a:lnTo>
                    <a:pt x="5422011" y="5430139"/>
                  </a:lnTo>
                  <a:cubicBezTo>
                    <a:pt x="5422011" y="6261735"/>
                    <a:pt x="4747768" y="6935978"/>
                    <a:pt x="3916172" y="6935978"/>
                  </a:cubicBezTo>
                  <a:lnTo>
                    <a:pt x="1505839" y="6935978"/>
                  </a:lnTo>
                  <a:cubicBezTo>
                    <a:pt x="674243" y="6936105"/>
                    <a:pt x="0" y="6261862"/>
                    <a:pt x="0" y="543026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9970C17-6254-F9DF-7FE5-803687085A42}"/>
              </a:ext>
            </a:extLst>
          </p:cNvPr>
          <p:cNvGrpSpPr/>
          <p:nvPr/>
        </p:nvGrpSpPr>
        <p:grpSpPr>
          <a:xfrm>
            <a:off x="13373431" y="2171700"/>
            <a:ext cx="3714750" cy="5202046"/>
            <a:chOff x="0" y="0"/>
            <a:chExt cx="5421998" cy="693606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268F617-18F8-A87D-3B05-CB89138AFEDF}"/>
                </a:ext>
              </a:extLst>
            </p:cNvPr>
            <p:cNvSpPr/>
            <p:nvPr/>
          </p:nvSpPr>
          <p:spPr>
            <a:xfrm>
              <a:off x="0" y="0"/>
              <a:ext cx="5422011" cy="6936105"/>
            </a:xfrm>
            <a:custGeom>
              <a:avLst/>
              <a:gdLst/>
              <a:ahLst/>
              <a:cxnLst/>
              <a:rect l="l" t="t" r="r" b="b"/>
              <a:pathLst>
                <a:path w="5422011" h="6936105">
                  <a:moveTo>
                    <a:pt x="0" y="1505839"/>
                  </a:moveTo>
                  <a:cubicBezTo>
                    <a:pt x="0" y="674243"/>
                    <a:pt x="674243" y="0"/>
                    <a:pt x="1505839" y="0"/>
                  </a:cubicBezTo>
                  <a:lnTo>
                    <a:pt x="3916172" y="0"/>
                  </a:lnTo>
                  <a:cubicBezTo>
                    <a:pt x="4747768" y="0"/>
                    <a:pt x="5422011" y="674243"/>
                    <a:pt x="5422011" y="1505839"/>
                  </a:cubicBezTo>
                  <a:lnTo>
                    <a:pt x="5422011" y="5430139"/>
                  </a:lnTo>
                  <a:cubicBezTo>
                    <a:pt x="5422011" y="6261735"/>
                    <a:pt x="4747768" y="6935978"/>
                    <a:pt x="3916172" y="6935978"/>
                  </a:cubicBezTo>
                  <a:lnTo>
                    <a:pt x="1505839" y="6935978"/>
                  </a:lnTo>
                  <a:cubicBezTo>
                    <a:pt x="674243" y="6936105"/>
                    <a:pt x="0" y="6261862"/>
                    <a:pt x="0" y="543026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12" name="AutoShape 12">
            <a:extLst>
              <a:ext uri="{FF2B5EF4-FFF2-40B4-BE49-F238E27FC236}">
                <a16:creationId xmlns:a16="http://schemas.microsoft.com/office/drawing/2014/main" id="{0A337C37-70AB-7F62-CE4D-128A51D2B606}"/>
              </a:ext>
            </a:extLst>
          </p:cNvPr>
          <p:cNvSpPr/>
          <p:nvPr/>
        </p:nvSpPr>
        <p:spPr>
          <a:xfrm rot="87831">
            <a:off x="6078496" y="4696991"/>
            <a:ext cx="223711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1A55E3EA-3F03-C297-A723-510290FB7538}"/>
              </a:ext>
            </a:extLst>
          </p:cNvPr>
          <p:cNvSpPr/>
          <p:nvPr/>
        </p:nvSpPr>
        <p:spPr>
          <a:xfrm rot="87831">
            <a:off x="11662788" y="4772739"/>
            <a:ext cx="223711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7E4D64E6-DDFA-C217-CF56-A85EA716339F}"/>
              </a:ext>
            </a:extLst>
          </p:cNvPr>
          <p:cNvSpPr txBox="1"/>
          <p:nvPr/>
        </p:nvSpPr>
        <p:spPr>
          <a:xfrm>
            <a:off x="12781347" y="3467100"/>
            <a:ext cx="4925092" cy="3161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 err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폐업</a:t>
            </a:r>
            <a:r>
              <a:rPr lang="en-US" sz="2800" b="1" dirty="0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00" b="1" dirty="0" err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위험</a:t>
            </a:r>
            <a:r>
              <a:rPr lang="en-US" sz="2800" b="1" dirty="0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00" b="1" dirty="0" err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요인</a:t>
            </a:r>
            <a:r>
              <a:rPr lang="en-US" sz="2800" b="1" dirty="0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2800" b="1" dirty="0" err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분석</a:t>
            </a:r>
            <a:r>
              <a:rPr lang="en-US" sz="2800" b="1" dirty="0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 및 </a:t>
            </a:r>
            <a:r>
              <a:rPr lang="en-US" sz="2800" b="1" dirty="0" err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요약</a:t>
            </a:r>
            <a:endParaRPr lang="en-US" sz="2800" b="1" dirty="0">
              <a:solidFill>
                <a:srgbClr val="40404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144780" lvl="1" algn="ctr">
              <a:lnSpc>
                <a:spcPct val="150000"/>
              </a:lnSpc>
            </a:pPr>
            <a:r>
              <a:rPr lang="en-US" sz="28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해결</a:t>
            </a:r>
            <a:r>
              <a:rPr lang="en-US" sz="2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방안</a:t>
            </a:r>
            <a:r>
              <a:rPr lang="en-US" sz="2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1</a:t>
            </a:r>
          </a:p>
          <a:p>
            <a:pPr marL="144780" lvl="1" algn="ctr">
              <a:lnSpc>
                <a:spcPct val="150000"/>
              </a:lnSpc>
            </a:pPr>
            <a:r>
              <a:rPr lang="en-US" sz="28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해결</a:t>
            </a:r>
            <a:r>
              <a:rPr lang="en-US" sz="2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방안</a:t>
            </a:r>
            <a:r>
              <a:rPr lang="en-US" sz="2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2</a:t>
            </a:r>
          </a:p>
          <a:p>
            <a:pPr marL="144780" lvl="1" algn="ctr">
              <a:lnSpc>
                <a:spcPct val="150000"/>
              </a:lnSpc>
            </a:pPr>
            <a:r>
              <a:rPr lang="en-US" sz="28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해결</a:t>
            </a:r>
            <a:r>
              <a:rPr lang="en-US" sz="2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방안</a:t>
            </a:r>
            <a:r>
              <a:rPr lang="en-US" sz="2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3</a:t>
            </a: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87346EB8-6CF3-64D9-9278-9721E027B7C7}"/>
              </a:ext>
            </a:extLst>
          </p:cNvPr>
          <p:cNvSpPr txBox="1"/>
          <p:nvPr/>
        </p:nvSpPr>
        <p:spPr>
          <a:xfrm>
            <a:off x="7708720" y="3448370"/>
            <a:ext cx="4559331" cy="3174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endParaRPr lang="en-US" sz="3000" dirty="0"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3600"/>
              </a:lnSpc>
            </a:pPr>
            <a:r>
              <a:rPr lang="en-US" sz="3000" dirty="0">
                <a:latin typeface="Arimo"/>
                <a:ea typeface="Arimo"/>
                <a:cs typeface="Arimo"/>
                <a:sym typeface="Arimo"/>
              </a:rPr>
              <a:t>GPT 4o</a:t>
            </a:r>
          </a:p>
          <a:p>
            <a:pPr algn="ctr">
              <a:lnSpc>
                <a:spcPts val="3600"/>
              </a:lnSpc>
            </a:pPr>
            <a:endParaRPr lang="en-US" sz="3000" dirty="0"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3600"/>
              </a:lnSpc>
            </a:pPr>
            <a:r>
              <a:rPr lang="ko-KR" altLang="en-US" sz="3000" dirty="0">
                <a:latin typeface="Arimo"/>
                <a:ea typeface="Arimo"/>
                <a:cs typeface="Arimo"/>
                <a:sym typeface="Arimo"/>
              </a:rPr>
              <a:t>입력 데이터</a:t>
            </a:r>
            <a:endParaRPr lang="en-US" sz="3000" dirty="0"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3600"/>
              </a:lnSpc>
            </a:pPr>
            <a:endParaRPr lang="en-US" sz="3000" dirty="0"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3600"/>
              </a:lnSpc>
            </a:pPr>
            <a:r>
              <a:rPr lang="ko-KR" altLang="en-US" sz="3000" dirty="0">
                <a:latin typeface="Arimo"/>
                <a:ea typeface="Arimo"/>
                <a:cs typeface="Arimo"/>
                <a:sym typeface="Arimo"/>
              </a:rPr>
              <a:t>프롬프트</a:t>
            </a:r>
            <a:endParaRPr lang="en-US" altLang="ko-KR" sz="3000" dirty="0"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3600"/>
              </a:lnSpc>
            </a:pPr>
            <a:r>
              <a:rPr lang="en-US" sz="2000" dirty="0">
                <a:latin typeface="Arimo"/>
                <a:ea typeface="Arimo"/>
                <a:cs typeface="Arimo"/>
                <a:sym typeface="Arimo"/>
              </a:rPr>
              <a:t>(</a:t>
            </a:r>
            <a:r>
              <a:rPr lang="ko-KR" altLang="en-US" sz="2000" dirty="0">
                <a:latin typeface="Arimo"/>
                <a:ea typeface="Arimo"/>
                <a:cs typeface="Arimo"/>
                <a:sym typeface="Arimo"/>
              </a:rPr>
              <a:t>비즈니스 컨설턴트 페르소나 부여</a:t>
            </a:r>
            <a:r>
              <a:rPr lang="en-US" altLang="ko-KR" sz="2000" dirty="0">
                <a:latin typeface="Arimo"/>
                <a:ea typeface="Arimo"/>
                <a:cs typeface="Arimo"/>
                <a:sym typeface="Arimo"/>
              </a:rPr>
              <a:t>)</a:t>
            </a:r>
            <a:endParaRPr lang="en-US" sz="2000" dirty="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68B6CD0A-6D6F-5583-3E56-39DB8C606746}"/>
              </a:ext>
            </a:extLst>
          </p:cNvPr>
          <p:cNvSpPr txBox="1"/>
          <p:nvPr/>
        </p:nvSpPr>
        <p:spPr>
          <a:xfrm>
            <a:off x="12951144" y="2583902"/>
            <a:ext cx="455933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ko-KR" altLang="en-US" sz="3000" b="1" dirty="0">
                <a:latin typeface="Arimo"/>
                <a:ea typeface="Arimo"/>
                <a:cs typeface="Arimo"/>
                <a:sym typeface="Arimo"/>
              </a:rPr>
              <a:t>컨설팅 결과</a:t>
            </a:r>
            <a:endParaRPr lang="en-US" sz="3000" b="1" dirty="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57AA0048-A62F-6B75-9612-1930F9E19EA1}"/>
              </a:ext>
            </a:extLst>
          </p:cNvPr>
          <p:cNvSpPr txBox="1"/>
          <p:nvPr/>
        </p:nvSpPr>
        <p:spPr>
          <a:xfrm>
            <a:off x="1506830" y="2681875"/>
            <a:ext cx="455933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ko-KR" altLang="en-US" sz="3000" b="1" dirty="0">
                <a:latin typeface="Arimo"/>
                <a:ea typeface="Arimo"/>
                <a:cs typeface="Arimo"/>
                <a:sym typeface="Arimo"/>
              </a:rPr>
              <a:t>입력 데이터</a:t>
            </a:r>
            <a:endParaRPr lang="en-US" sz="3000" b="1" dirty="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8A3551-BFE4-0265-900D-D64F35FEB9D4}"/>
              </a:ext>
            </a:extLst>
          </p:cNvPr>
          <p:cNvSpPr txBox="1"/>
          <p:nvPr/>
        </p:nvSpPr>
        <p:spPr>
          <a:xfrm>
            <a:off x="1433563" y="3848100"/>
            <a:ext cx="4705863" cy="5129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2800" dirty="0">
                <a:latin typeface="Arimo"/>
                <a:ea typeface="Arimo"/>
                <a:cs typeface="Arimo"/>
                <a:sym typeface="Arimo"/>
              </a:rPr>
              <a:t>폐업 위험 지수</a:t>
            </a:r>
            <a:endParaRPr lang="en-US" altLang="ko-KR" sz="2800" dirty="0"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ct val="200000"/>
              </a:lnSpc>
            </a:pPr>
            <a:r>
              <a:rPr lang="ko-KR" altLang="en-US" sz="2800" dirty="0">
                <a:latin typeface="Arimo"/>
                <a:ea typeface="Arimo"/>
                <a:cs typeface="Arimo"/>
                <a:sym typeface="Arimo"/>
              </a:rPr>
              <a:t>폐업 위험 요인</a:t>
            </a:r>
            <a:endParaRPr lang="en-US" altLang="ko-KR" sz="2800" dirty="0"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ct val="200000"/>
              </a:lnSpc>
            </a:pPr>
            <a:r>
              <a:rPr lang="ko-KR" altLang="en-US" sz="2800" dirty="0">
                <a:latin typeface="Arimo"/>
                <a:ea typeface="Arimo"/>
                <a:cs typeface="Arimo"/>
                <a:sym typeface="Arimo"/>
              </a:rPr>
              <a:t>가맹점 데이터</a:t>
            </a:r>
            <a:endParaRPr lang="en-US" altLang="ko-KR" sz="2800" dirty="0"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ct val="200000"/>
              </a:lnSpc>
            </a:pPr>
            <a:endParaRPr lang="en-US" altLang="ko-KR" sz="2800" dirty="0"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ct val="200000"/>
              </a:lnSpc>
            </a:pPr>
            <a:endParaRPr lang="en-US" altLang="ko-KR" sz="2800" dirty="0"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ct val="200000"/>
              </a:lnSpc>
            </a:pPr>
            <a:endParaRPr lang="en-US" altLang="ko-KR" sz="2800" dirty="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7AFE0D-BE14-ED4A-A185-3295601A81F4}"/>
              </a:ext>
            </a:extLst>
          </p:cNvPr>
          <p:cNvSpPr txBox="1"/>
          <p:nvPr/>
        </p:nvSpPr>
        <p:spPr>
          <a:xfrm>
            <a:off x="1750699" y="7739341"/>
            <a:ext cx="78769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폐업 위험 지수</a:t>
            </a:r>
            <a:r>
              <a:rPr lang="en-US" altLang="ko-KR" sz="2400" dirty="0"/>
              <a:t>: </a:t>
            </a:r>
            <a:r>
              <a:rPr lang="ko-KR" altLang="en-US" dirty="0"/>
              <a:t>폐업 위험 예측 확률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가맹점 데이터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dirty="0"/>
              <a:t>매출 금액 구간</a:t>
            </a:r>
            <a:r>
              <a:rPr lang="en-US" altLang="ko-KR" dirty="0"/>
              <a:t>, </a:t>
            </a:r>
            <a:r>
              <a:rPr lang="ko-KR" altLang="en-US" dirty="0" err="1"/>
              <a:t>객단가</a:t>
            </a:r>
            <a:r>
              <a:rPr lang="ko-KR" altLang="en-US" dirty="0"/>
              <a:t> 구간</a:t>
            </a:r>
            <a:r>
              <a:rPr lang="en-US" altLang="ko-KR" dirty="0"/>
              <a:t>, </a:t>
            </a:r>
            <a:r>
              <a:rPr lang="ko-KR" altLang="en-US" dirty="0"/>
              <a:t>매출 건수 구간</a:t>
            </a:r>
            <a:r>
              <a:rPr lang="en-US" altLang="ko-KR" dirty="0"/>
              <a:t>, </a:t>
            </a:r>
            <a:r>
              <a:rPr lang="ko-KR" altLang="en-US" dirty="0"/>
              <a:t>유니크 고객 수 구간</a:t>
            </a:r>
            <a:r>
              <a:rPr lang="en-US" altLang="ko-KR" dirty="0"/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배달 매출 금액 비율</a:t>
            </a:r>
            <a:r>
              <a:rPr lang="en-US" altLang="ko-KR" dirty="0"/>
              <a:t>, </a:t>
            </a:r>
            <a:r>
              <a:rPr lang="ko-KR" altLang="en-US" dirty="0"/>
              <a:t>행정동</a:t>
            </a:r>
            <a:r>
              <a:rPr lang="en-US" altLang="ko-KR" dirty="0"/>
              <a:t>, </a:t>
            </a:r>
            <a:r>
              <a:rPr lang="ko-KR" altLang="en-US" dirty="0"/>
              <a:t>역세권 점수</a:t>
            </a:r>
            <a:r>
              <a:rPr lang="en-US" altLang="ko-KR" dirty="0"/>
              <a:t>, </a:t>
            </a:r>
            <a:r>
              <a:rPr lang="ko-KR" altLang="en-US" dirty="0"/>
              <a:t>업종</a:t>
            </a:r>
            <a:r>
              <a:rPr lang="en-US" altLang="ko-KR" dirty="0"/>
              <a:t>, </a:t>
            </a:r>
            <a:r>
              <a:rPr lang="ko-KR" altLang="en-US" dirty="0"/>
              <a:t>유동인구</a:t>
            </a:r>
            <a:r>
              <a:rPr lang="en-US" altLang="ko-KR" dirty="0"/>
              <a:t>, </a:t>
            </a:r>
            <a:r>
              <a:rPr lang="ko-KR" altLang="en-US" dirty="0"/>
              <a:t>임대시세 등 </a:t>
            </a:r>
            <a:r>
              <a:rPr lang="en-US" altLang="ko-KR" dirty="0"/>
              <a:t>..</a:t>
            </a:r>
          </a:p>
          <a:p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74FC02-88FD-84C7-71EC-7D8F9C36C4C1}"/>
              </a:ext>
            </a:extLst>
          </p:cNvPr>
          <p:cNvSpPr txBox="1"/>
          <p:nvPr/>
        </p:nvSpPr>
        <p:spPr>
          <a:xfrm>
            <a:off x="7892886" y="2589061"/>
            <a:ext cx="4191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altLang="ko-KR" sz="3000" b="1" dirty="0">
                <a:latin typeface="Arimo"/>
                <a:ea typeface="Arimo"/>
                <a:cs typeface="Arimo"/>
                <a:sym typeface="Arimo"/>
              </a:rPr>
              <a:t>RAG </a:t>
            </a:r>
            <a:r>
              <a:rPr lang="ko-KR" altLang="en-US" sz="3000" b="1" dirty="0">
                <a:latin typeface="Arimo"/>
                <a:ea typeface="Arimo"/>
                <a:cs typeface="Arimo"/>
                <a:sym typeface="Arimo"/>
              </a:rPr>
              <a:t>시스템</a:t>
            </a:r>
            <a:endParaRPr lang="en-US" altLang="ko-KR" sz="3000" b="1" dirty="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FA5DA4-F78B-AA2C-4205-28A323C353C5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개요   데이터 분석 및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</a:rPr>
              <a:t>전처리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</a:t>
            </a:r>
            <a:r>
              <a:rPr lang="ko-KR" altLang="en-US" sz="1600" b="1" dirty="0"/>
              <a:t>조기 경보 시스템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결론 및 의의</a:t>
            </a:r>
          </a:p>
        </p:txBody>
      </p:sp>
    </p:spTree>
    <p:extLst>
      <p:ext uri="{BB962C8B-B14F-4D97-AF65-F5344CB8AC3E}">
        <p14:creationId xmlns:p14="http://schemas.microsoft.com/office/powerpoint/2010/main" val="892704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06488" y="1562100"/>
            <a:ext cx="15552218" cy="8089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[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위기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지수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]: 70 </a:t>
            </a:r>
            <a:r>
              <a:rPr lang="ko-KR" alt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점</a:t>
            </a:r>
            <a:endParaRPr lang="en-US" altLang="ko-KR" sz="270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860"/>
              </a:lnSpc>
            </a:pPr>
            <a:endParaRPr lang="en-US" sz="270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860"/>
              </a:lnSpc>
            </a:pPr>
            <a:r>
              <a:rPr lang="en-US" sz="2700" b="1" dirty="0">
                <a:solidFill>
                  <a:srgbClr val="000000"/>
                </a:solidFill>
                <a:latin typeface="Arimo Bold" panose="020B0600000101010101" charset="0"/>
                <a:ea typeface="Arimo Bold" panose="020B0600000101010101" charset="0"/>
                <a:cs typeface="Arimo Bold" panose="020B0600000101010101" charset="0"/>
                <a:sym typeface="Arimo Bold"/>
              </a:rPr>
              <a:t>[</a:t>
            </a:r>
            <a:r>
              <a:rPr lang="en-US" sz="2700" b="1" dirty="0" err="1">
                <a:solidFill>
                  <a:srgbClr val="000000"/>
                </a:solidFill>
                <a:latin typeface="Arimo Bold" panose="020B0600000101010101" charset="0"/>
                <a:ea typeface="Arimo Bold" panose="020B0600000101010101" charset="0"/>
                <a:cs typeface="Arimo Bold" panose="020B0600000101010101" charset="0"/>
                <a:sym typeface="Arimo"/>
              </a:rPr>
              <a:t>핵심</a:t>
            </a:r>
            <a:r>
              <a:rPr lang="en-US" sz="2700" b="1" dirty="0">
                <a:solidFill>
                  <a:srgbClr val="000000"/>
                </a:solidFill>
                <a:latin typeface="Arimo Bold" panose="020B0600000101010101" charset="0"/>
                <a:ea typeface="Arimo Bold" panose="020B0600000101010101" charset="0"/>
                <a:cs typeface="Arimo Bold" panose="020B0600000101010101" charset="0"/>
                <a:sym typeface="Arimo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 panose="020B0600000101010101" charset="0"/>
                <a:ea typeface="Arimo Bold" panose="020B0600000101010101" charset="0"/>
                <a:cs typeface="Arimo Bold" panose="020B0600000101010101" charset="0"/>
                <a:sym typeface="Arimo"/>
              </a:rPr>
              <a:t>위험</a:t>
            </a:r>
            <a:r>
              <a:rPr lang="en-US" sz="2700" b="1" dirty="0">
                <a:solidFill>
                  <a:srgbClr val="000000"/>
                </a:solidFill>
                <a:latin typeface="Arimo Bold" panose="020B0600000101010101" charset="0"/>
                <a:ea typeface="Arimo Bold" panose="020B0600000101010101" charset="0"/>
                <a:cs typeface="Arimo Bold" panose="020B0600000101010101" charset="0"/>
                <a:sym typeface="Arimo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 panose="020B0600000101010101" charset="0"/>
                <a:ea typeface="Arimo Bold" panose="020B0600000101010101" charset="0"/>
                <a:cs typeface="Arimo Bold" panose="020B0600000101010101" charset="0"/>
                <a:sym typeface="Arimo"/>
              </a:rPr>
              <a:t>요약</a:t>
            </a:r>
            <a:r>
              <a:rPr lang="en-US" sz="2700" b="1" dirty="0">
                <a:solidFill>
                  <a:srgbClr val="000000"/>
                </a:solidFill>
                <a:latin typeface="Arimo Bold" panose="020B0600000101010101" charset="0"/>
                <a:ea typeface="Arimo Bold" panose="020B0600000101010101" charset="0"/>
                <a:cs typeface="Arimo Bold" panose="020B0600000101010101" charset="0"/>
                <a:sym typeface="Arimo Bold"/>
              </a:rPr>
              <a:t>]</a:t>
            </a:r>
            <a:r>
              <a:rPr lang="en-US" sz="2700" b="1" dirty="0">
                <a:solidFill>
                  <a:srgbClr val="000000"/>
                </a:solidFill>
                <a:latin typeface="Arimo Bold" panose="020B0600000101010101" charset="0"/>
                <a:ea typeface="Arimo Bold" panose="020B0600000101010101" charset="0"/>
                <a:cs typeface="Arimo Bold" panose="020B0600000101010101" charset="0"/>
                <a:sym typeface="Arimo"/>
              </a:rPr>
              <a:t> </a:t>
            </a:r>
          </a:p>
          <a:p>
            <a:pPr algn="l">
              <a:lnSpc>
                <a:spcPts val="4860"/>
              </a:lnSpc>
            </a:pP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최근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6개월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동안의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매출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변동성과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동일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업종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내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매출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순위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비율이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낮고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영업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개월이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짧아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장기적인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매출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감소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추세가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우려되는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상황입니다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4860"/>
              </a:lnSpc>
            </a:pP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860"/>
              </a:lnSpc>
            </a:pPr>
            <a:r>
              <a:rPr lang="en-US" sz="2700" b="1" dirty="0">
                <a:solidFill>
                  <a:srgbClr val="000000"/>
                </a:solidFill>
                <a:latin typeface="Arimo Bold" panose="020B0600000101010101" charset="0"/>
                <a:ea typeface="Arimo Bold" panose="020B0600000101010101" charset="0"/>
                <a:cs typeface="Arimo Bold" panose="020B0600000101010101" charset="0"/>
                <a:sym typeface="Arimo Bold"/>
              </a:rPr>
              <a:t>[</a:t>
            </a:r>
            <a:r>
              <a:rPr lang="en-US" sz="2700" b="1" dirty="0" err="1">
                <a:solidFill>
                  <a:srgbClr val="000000"/>
                </a:solidFill>
                <a:latin typeface="Arimo Bold" panose="020B0600000101010101" charset="0"/>
                <a:ea typeface="Arimo Bold" panose="020B0600000101010101" charset="0"/>
                <a:cs typeface="Arimo Bold" panose="020B0600000101010101" charset="0"/>
                <a:sym typeface="Arimo"/>
              </a:rPr>
              <a:t>솔루션</a:t>
            </a:r>
            <a:r>
              <a:rPr lang="en-US" sz="2700" b="1" dirty="0">
                <a:solidFill>
                  <a:srgbClr val="000000"/>
                </a:solidFill>
                <a:latin typeface="Arimo Bold" panose="020B0600000101010101" charset="0"/>
                <a:ea typeface="Arimo Bold" panose="020B0600000101010101" charset="0"/>
                <a:cs typeface="Arimo Bold" panose="020B0600000101010101" charset="0"/>
                <a:sym typeface="Arimo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 panose="020B0600000101010101" charset="0"/>
                <a:ea typeface="Arimo Bold" panose="020B0600000101010101" charset="0"/>
                <a:cs typeface="Arimo Bold" panose="020B0600000101010101" charset="0"/>
                <a:sym typeface="Arimo"/>
              </a:rPr>
              <a:t>제안</a:t>
            </a:r>
            <a:r>
              <a:rPr lang="en-US" sz="2700" b="1" dirty="0">
                <a:solidFill>
                  <a:srgbClr val="000000"/>
                </a:solidFill>
                <a:latin typeface="Arimo Bold" panose="020B0600000101010101" charset="0"/>
                <a:ea typeface="Arimo Bold" panose="020B0600000101010101" charset="0"/>
                <a:cs typeface="Arimo Bold" panose="020B0600000101010101" charset="0"/>
                <a:sym typeface="Arimo Bold"/>
              </a:rPr>
              <a:t>]</a:t>
            </a:r>
            <a:r>
              <a:rPr lang="en-US" sz="2700" b="1" dirty="0">
                <a:solidFill>
                  <a:srgbClr val="000000"/>
                </a:solidFill>
                <a:latin typeface="Arimo Bold" panose="020B0600000101010101" charset="0"/>
                <a:ea typeface="Arimo Bold" panose="020B0600000101010101" charset="0"/>
                <a:cs typeface="Arimo Bold" panose="020B0600000101010101" charset="0"/>
                <a:sym typeface="Arimo"/>
              </a:rPr>
              <a:t> </a:t>
            </a:r>
          </a:p>
          <a:p>
            <a:pPr marL="488632" lvl="1" indent="-244316" algn="l">
              <a:lnSpc>
                <a:spcPts val="4860"/>
              </a:lnSpc>
              <a:buAutoNum type="arabicPeriod"/>
            </a:pP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매출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증대를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위한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마케팅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전략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강화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소셜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미디어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및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지역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커뮤니티와의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협력을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통해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고객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유입을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늘리고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프로모션이나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이벤트를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통해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신규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고객을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유치하는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방안을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모색합니다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  </a:t>
            </a:r>
          </a:p>
          <a:p>
            <a:pPr marL="488632" lvl="1" indent="-244316" algn="l">
              <a:lnSpc>
                <a:spcPts val="4860"/>
              </a:lnSpc>
              <a:buAutoNum type="arabicPeriod"/>
            </a:pP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비용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절감을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위한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원가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분석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임대료와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운영비용을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재검토하여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불필요한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지출을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줄이고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공급업체와의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협상을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통해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원자재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비용을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절감하는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방법을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고려합니다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488632" lvl="1" indent="-244316" algn="l">
              <a:lnSpc>
                <a:spcPts val="4860"/>
              </a:lnSpc>
              <a:buAutoNum type="arabicPeriod"/>
            </a:pP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고객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분석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및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맞춤형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서비스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제공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최근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3개월간의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고객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데이터를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분석하여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고객의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선호도를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파악하고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이를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바탕으로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맞춤형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서비스를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제공하여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고객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충성도를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높이는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전략을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수립합니다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42950" y="628650"/>
            <a:ext cx="1479551" cy="651392"/>
            <a:chOff x="0" y="0"/>
            <a:chExt cx="1972734" cy="8685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106488" y="759708"/>
            <a:ext cx="752473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37149" y="680932"/>
            <a:ext cx="279678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ko-KR" altLang="en-US" sz="3000" b="1" spc="9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컨설팅</a:t>
            </a:r>
            <a:r>
              <a:rPr lang="en-US" sz="3000" b="1" spc="9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00" b="1" spc="9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제공</a:t>
            </a:r>
            <a:endParaRPr lang="en-US" sz="3000" b="1" spc="9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C81646-2EB2-D3C7-B3C5-B7AD77F64931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개요   데이터 분석 및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</a:rPr>
              <a:t>전처리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</a:t>
            </a:r>
            <a:r>
              <a:rPr lang="ko-KR" altLang="en-US" sz="1600" b="1" dirty="0"/>
              <a:t>조기 경보 시스템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결론 및 의의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8235ECB2-235E-684E-40D3-4C19760F0CCF}"/>
              </a:ext>
            </a:extLst>
          </p:cNvPr>
          <p:cNvGrpSpPr/>
          <p:nvPr/>
        </p:nvGrpSpPr>
        <p:grpSpPr>
          <a:xfrm>
            <a:off x="742950" y="628650"/>
            <a:ext cx="1479551" cy="651392"/>
            <a:chOff x="0" y="0"/>
            <a:chExt cx="1972734" cy="868522"/>
          </a:xfrm>
        </p:grpSpPr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557C100A-ED11-EB84-5500-82F7C4B2542C}"/>
                </a:ext>
              </a:extLst>
            </p:cNvPr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TextBox 5">
            <a:extLst>
              <a:ext uri="{FF2B5EF4-FFF2-40B4-BE49-F238E27FC236}">
                <a16:creationId xmlns:a16="http://schemas.microsoft.com/office/drawing/2014/main" id="{DE5C2E68-D91E-2A31-9E7F-31FAABEA22E8}"/>
              </a:ext>
            </a:extLst>
          </p:cNvPr>
          <p:cNvSpPr txBox="1"/>
          <p:nvPr/>
        </p:nvSpPr>
        <p:spPr>
          <a:xfrm>
            <a:off x="1106488" y="759708"/>
            <a:ext cx="752473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3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F467A8F5-2689-6A4F-9C48-88ACEAD618EC}"/>
              </a:ext>
            </a:extLst>
          </p:cNvPr>
          <p:cNvSpPr txBox="1"/>
          <p:nvPr/>
        </p:nvSpPr>
        <p:spPr>
          <a:xfrm>
            <a:off x="2737149" y="680932"/>
            <a:ext cx="655925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ko-KR" altLang="en-US" sz="3000" b="1" spc="9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조기 경보 시스템 확장</a:t>
            </a:r>
            <a:endParaRPr lang="en-US" sz="3000" b="1" spc="9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7965E2D-7E42-1C14-B69C-AC741137D2FE}"/>
              </a:ext>
            </a:extLst>
          </p:cNvPr>
          <p:cNvGrpSpPr/>
          <p:nvPr/>
        </p:nvGrpSpPr>
        <p:grpSpPr>
          <a:xfrm>
            <a:off x="10485224" y="2971374"/>
            <a:ext cx="6096909" cy="6096910"/>
            <a:chOff x="0" y="0"/>
            <a:chExt cx="8129212" cy="812921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0C7D03F-BCE1-063A-A4C1-592F94B75CC1}"/>
                </a:ext>
              </a:extLst>
            </p:cNvPr>
            <p:cNvSpPr/>
            <p:nvPr/>
          </p:nvSpPr>
          <p:spPr>
            <a:xfrm>
              <a:off x="0" y="0"/>
              <a:ext cx="8129270" cy="8129270"/>
            </a:xfrm>
            <a:custGeom>
              <a:avLst/>
              <a:gdLst/>
              <a:ahLst/>
              <a:cxnLst/>
              <a:rect l="l" t="t" r="r" b="b"/>
              <a:pathLst>
                <a:path w="8129270" h="8129270">
                  <a:moveTo>
                    <a:pt x="0" y="4064635"/>
                  </a:moveTo>
                  <a:cubicBezTo>
                    <a:pt x="0" y="1819783"/>
                    <a:pt x="1819783" y="0"/>
                    <a:pt x="4064635" y="0"/>
                  </a:cubicBezTo>
                  <a:cubicBezTo>
                    <a:pt x="6309487" y="0"/>
                    <a:pt x="8129270" y="1819783"/>
                    <a:pt x="8129270" y="4064635"/>
                  </a:cubicBezTo>
                  <a:cubicBezTo>
                    <a:pt x="8129270" y="6309487"/>
                    <a:pt x="6309487" y="8129270"/>
                    <a:pt x="4064635" y="8129270"/>
                  </a:cubicBezTo>
                  <a:cubicBezTo>
                    <a:pt x="1819783" y="8129270"/>
                    <a:pt x="0" y="6309487"/>
                    <a:pt x="0" y="406463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847B632-52B7-14A9-2F65-772E0CFB5817}"/>
              </a:ext>
            </a:extLst>
          </p:cNvPr>
          <p:cNvGrpSpPr/>
          <p:nvPr/>
        </p:nvGrpSpPr>
        <p:grpSpPr>
          <a:xfrm>
            <a:off x="5033642" y="3886392"/>
            <a:ext cx="3992367" cy="3992368"/>
            <a:chOff x="0" y="0"/>
            <a:chExt cx="5323156" cy="5323158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A1F1BE1-3A41-DB64-7ED4-3B27C3DE55A0}"/>
                </a:ext>
              </a:extLst>
            </p:cNvPr>
            <p:cNvSpPr/>
            <p:nvPr/>
          </p:nvSpPr>
          <p:spPr>
            <a:xfrm>
              <a:off x="0" y="0"/>
              <a:ext cx="5323205" cy="5323205"/>
            </a:xfrm>
            <a:custGeom>
              <a:avLst/>
              <a:gdLst/>
              <a:ahLst/>
              <a:cxnLst/>
              <a:rect l="l" t="t" r="r" b="b"/>
              <a:pathLst>
                <a:path w="5323205" h="5323205">
                  <a:moveTo>
                    <a:pt x="0" y="2661539"/>
                  </a:moveTo>
                  <a:cubicBezTo>
                    <a:pt x="0" y="1191641"/>
                    <a:pt x="1191641" y="0"/>
                    <a:pt x="2661539" y="0"/>
                  </a:cubicBezTo>
                  <a:cubicBezTo>
                    <a:pt x="4131437" y="0"/>
                    <a:pt x="5323205" y="1191641"/>
                    <a:pt x="5323205" y="2661539"/>
                  </a:cubicBezTo>
                  <a:cubicBezTo>
                    <a:pt x="5323205" y="4131437"/>
                    <a:pt x="4131564" y="5323205"/>
                    <a:pt x="2661539" y="5323205"/>
                  </a:cubicBezTo>
                  <a:cubicBezTo>
                    <a:pt x="1191514" y="5323205"/>
                    <a:pt x="0" y="4131564"/>
                    <a:pt x="0" y="266153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0917781D-DACA-1D0E-3E23-BBEDD98803D2}"/>
              </a:ext>
            </a:extLst>
          </p:cNvPr>
          <p:cNvGrpSpPr/>
          <p:nvPr/>
        </p:nvGrpSpPr>
        <p:grpSpPr>
          <a:xfrm>
            <a:off x="6083504" y="3886392"/>
            <a:ext cx="1868562" cy="1868562"/>
            <a:chOff x="0" y="0"/>
            <a:chExt cx="2491416" cy="2491416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71421E5-C4F8-C629-58F6-6EF88AAD0929}"/>
                </a:ext>
              </a:extLst>
            </p:cNvPr>
            <p:cNvSpPr/>
            <p:nvPr/>
          </p:nvSpPr>
          <p:spPr>
            <a:xfrm>
              <a:off x="0" y="0"/>
              <a:ext cx="2491486" cy="2491486"/>
            </a:xfrm>
            <a:custGeom>
              <a:avLst/>
              <a:gdLst/>
              <a:ahLst/>
              <a:cxnLst/>
              <a:rect l="l" t="t" r="r" b="b"/>
              <a:pathLst>
                <a:path w="2491486" h="2491486">
                  <a:moveTo>
                    <a:pt x="0" y="1245743"/>
                  </a:moveTo>
                  <a:cubicBezTo>
                    <a:pt x="0" y="557784"/>
                    <a:pt x="557784" y="0"/>
                    <a:pt x="1245743" y="0"/>
                  </a:cubicBezTo>
                  <a:cubicBezTo>
                    <a:pt x="1933702" y="0"/>
                    <a:pt x="2491486" y="557784"/>
                    <a:pt x="2491486" y="1245743"/>
                  </a:cubicBezTo>
                  <a:cubicBezTo>
                    <a:pt x="2491486" y="1933702"/>
                    <a:pt x="1933702" y="2491486"/>
                    <a:pt x="1245743" y="2491486"/>
                  </a:cubicBezTo>
                  <a:cubicBezTo>
                    <a:pt x="557784" y="2491486"/>
                    <a:pt x="0" y="1933702"/>
                    <a:pt x="0" y="1245743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9E9488B0-B4A9-F50E-7D8B-8355BB94576D}"/>
              </a:ext>
            </a:extLst>
          </p:cNvPr>
          <p:cNvGrpSpPr/>
          <p:nvPr/>
        </p:nvGrpSpPr>
        <p:grpSpPr>
          <a:xfrm>
            <a:off x="6083504" y="6010198"/>
            <a:ext cx="1868562" cy="1868562"/>
            <a:chOff x="0" y="0"/>
            <a:chExt cx="2491416" cy="249141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6039F301-61A1-64DC-1676-F50D8BE8F237}"/>
                </a:ext>
              </a:extLst>
            </p:cNvPr>
            <p:cNvSpPr/>
            <p:nvPr/>
          </p:nvSpPr>
          <p:spPr>
            <a:xfrm>
              <a:off x="0" y="0"/>
              <a:ext cx="2491486" cy="2491486"/>
            </a:xfrm>
            <a:custGeom>
              <a:avLst/>
              <a:gdLst/>
              <a:ahLst/>
              <a:cxnLst/>
              <a:rect l="l" t="t" r="r" b="b"/>
              <a:pathLst>
                <a:path w="2491486" h="2491486">
                  <a:moveTo>
                    <a:pt x="0" y="1245743"/>
                  </a:moveTo>
                  <a:cubicBezTo>
                    <a:pt x="0" y="557784"/>
                    <a:pt x="557784" y="0"/>
                    <a:pt x="1245743" y="0"/>
                  </a:cubicBezTo>
                  <a:cubicBezTo>
                    <a:pt x="1933702" y="0"/>
                    <a:pt x="2491486" y="557784"/>
                    <a:pt x="2491486" y="1245743"/>
                  </a:cubicBezTo>
                  <a:cubicBezTo>
                    <a:pt x="2491486" y="1933702"/>
                    <a:pt x="1933702" y="2491486"/>
                    <a:pt x="1245743" y="2491486"/>
                  </a:cubicBezTo>
                  <a:cubicBezTo>
                    <a:pt x="557784" y="2491486"/>
                    <a:pt x="0" y="1933702"/>
                    <a:pt x="0" y="1245743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53E0CAA8-7432-E33E-2954-8AB4FB95E490}"/>
              </a:ext>
            </a:extLst>
          </p:cNvPr>
          <p:cNvGrpSpPr/>
          <p:nvPr/>
        </p:nvGrpSpPr>
        <p:grpSpPr>
          <a:xfrm>
            <a:off x="12587356" y="2952111"/>
            <a:ext cx="1868562" cy="1868562"/>
            <a:chOff x="0" y="0"/>
            <a:chExt cx="2491416" cy="249141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636CD861-7D2F-3BBD-63C3-88214284065C}"/>
                </a:ext>
              </a:extLst>
            </p:cNvPr>
            <p:cNvSpPr/>
            <p:nvPr/>
          </p:nvSpPr>
          <p:spPr>
            <a:xfrm>
              <a:off x="0" y="0"/>
              <a:ext cx="2491486" cy="2491486"/>
            </a:xfrm>
            <a:custGeom>
              <a:avLst/>
              <a:gdLst/>
              <a:ahLst/>
              <a:cxnLst/>
              <a:rect l="l" t="t" r="r" b="b"/>
              <a:pathLst>
                <a:path w="2491486" h="2491486">
                  <a:moveTo>
                    <a:pt x="0" y="1245743"/>
                  </a:moveTo>
                  <a:cubicBezTo>
                    <a:pt x="0" y="557784"/>
                    <a:pt x="557784" y="0"/>
                    <a:pt x="1245743" y="0"/>
                  </a:cubicBezTo>
                  <a:cubicBezTo>
                    <a:pt x="1933702" y="0"/>
                    <a:pt x="2491486" y="557784"/>
                    <a:pt x="2491486" y="1245743"/>
                  </a:cubicBezTo>
                  <a:cubicBezTo>
                    <a:pt x="2491486" y="1933702"/>
                    <a:pt x="1933702" y="2491486"/>
                    <a:pt x="1245743" y="2491486"/>
                  </a:cubicBezTo>
                  <a:cubicBezTo>
                    <a:pt x="557784" y="2491486"/>
                    <a:pt x="0" y="1933702"/>
                    <a:pt x="0" y="1245743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51B5E5C5-888E-B77A-F372-66C4975779A5}"/>
              </a:ext>
            </a:extLst>
          </p:cNvPr>
          <p:cNvGrpSpPr/>
          <p:nvPr/>
        </p:nvGrpSpPr>
        <p:grpSpPr>
          <a:xfrm>
            <a:off x="12587356" y="5075916"/>
            <a:ext cx="1868562" cy="1868562"/>
            <a:chOff x="0" y="0"/>
            <a:chExt cx="2491416" cy="2491416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5498708F-2284-BA07-4A1D-C84E01354576}"/>
                </a:ext>
              </a:extLst>
            </p:cNvPr>
            <p:cNvSpPr/>
            <p:nvPr/>
          </p:nvSpPr>
          <p:spPr>
            <a:xfrm>
              <a:off x="0" y="0"/>
              <a:ext cx="2491486" cy="2491486"/>
            </a:xfrm>
            <a:custGeom>
              <a:avLst/>
              <a:gdLst/>
              <a:ahLst/>
              <a:cxnLst/>
              <a:rect l="l" t="t" r="r" b="b"/>
              <a:pathLst>
                <a:path w="2491486" h="2491486">
                  <a:moveTo>
                    <a:pt x="0" y="1245743"/>
                  </a:moveTo>
                  <a:cubicBezTo>
                    <a:pt x="0" y="557784"/>
                    <a:pt x="557784" y="0"/>
                    <a:pt x="1245743" y="0"/>
                  </a:cubicBezTo>
                  <a:cubicBezTo>
                    <a:pt x="1933702" y="0"/>
                    <a:pt x="2491486" y="557784"/>
                    <a:pt x="2491486" y="1245743"/>
                  </a:cubicBezTo>
                  <a:cubicBezTo>
                    <a:pt x="2491486" y="1933702"/>
                    <a:pt x="1933702" y="2491486"/>
                    <a:pt x="1245743" y="2491486"/>
                  </a:cubicBezTo>
                  <a:cubicBezTo>
                    <a:pt x="557784" y="2491486"/>
                    <a:pt x="0" y="1933702"/>
                    <a:pt x="0" y="1245743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23EF5FE6-F5FF-0CE8-1759-2933EE784EB8}"/>
              </a:ext>
            </a:extLst>
          </p:cNvPr>
          <p:cNvGrpSpPr/>
          <p:nvPr/>
        </p:nvGrpSpPr>
        <p:grpSpPr>
          <a:xfrm>
            <a:off x="12587356" y="7199722"/>
            <a:ext cx="1868562" cy="1868562"/>
            <a:chOff x="0" y="0"/>
            <a:chExt cx="2491416" cy="2491416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1E8065B-AC4F-8BD6-9788-F54B74BB2CF7}"/>
                </a:ext>
              </a:extLst>
            </p:cNvPr>
            <p:cNvSpPr/>
            <p:nvPr/>
          </p:nvSpPr>
          <p:spPr>
            <a:xfrm>
              <a:off x="0" y="0"/>
              <a:ext cx="2491486" cy="2491486"/>
            </a:xfrm>
            <a:custGeom>
              <a:avLst/>
              <a:gdLst/>
              <a:ahLst/>
              <a:cxnLst/>
              <a:rect l="l" t="t" r="r" b="b"/>
              <a:pathLst>
                <a:path w="2491486" h="2491486">
                  <a:moveTo>
                    <a:pt x="0" y="1245743"/>
                  </a:moveTo>
                  <a:cubicBezTo>
                    <a:pt x="0" y="557784"/>
                    <a:pt x="557784" y="0"/>
                    <a:pt x="1245743" y="0"/>
                  </a:cubicBezTo>
                  <a:cubicBezTo>
                    <a:pt x="1933702" y="0"/>
                    <a:pt x="2491486" y="557784"/>
                    <a:pt x="2491486" y="1245743"/>
                  </a:cubicBezTo>
                  <a:cubicBezTo>
                    <a:pt x="2491486" y="1933702"/>
                    <a:pt x="1933702" y="2491486"/>
                    <a:pt x="1245743" y="2491486"/>
                  </a:cubicBezTo>
                  <a:cubicBezTo>
                    <a:pt x="557784" y="2491486"/>
                    <a:pt x="0" y="1933702"/>
                    <a:pt x="0" y="1245743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71AF50B2-5551-9068-704D-8C778B67A461}"/>
              </a:ext>
            </a:extLst>
          </p:cNvPr>
          <p:cNvGrpSpPr/>
          <p:nvPr/>
        </p:nvGrpSpPr>
        <p:grpSpPr>
          <a:xfrm>
            <a:off x="1465036" y="5027538"/>
            <a:ext cx="2350278" cy="1868562"/>
            <a:chOff x="1465036" y="5027538"/>
            <a:chExt cx="2350278" cy="1868562"/>
          </a:xfrm>
        </p:grpSpPr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52A10CDB-22AD-655F-01A8-06A6A12FCE8E}"/>
                </a:ext>
              </a:extLst>
            </p:cNvPr>
            <p:cNvGrpSpPr/>
            <p:nvPr/>
          </p:nvGrpSpPr>
          <p:grpSpPr>
            <a:xfrm>
              <a:off x="1705868" y="5027538"/>
              <a:ext cx="1868562" cy="1868562"/>
              <a:chOff x="0" y="0"/>
              <a:chExt cx="2491416" cy="2491416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9B093429-5D98-6859-8A55-6051C5BDA9DF}"/>
                  </a:ext>
                </a:extLst>
              </p:cNvPr>
              <p:cNvSpPr/>
              <p:nvPr/>
            </p:nvSpPr>
            <p:spPr>
              <a:xfrm>
                <a:off x="0" y="0"/>
                <a:ext cx="2491486" cy="2491486"/>
              </a:xfrm>
              <a:custGeom>
                <a:avLst/>
                <a:gdLst/>
                <a:ahLst/>
                <a:cxnLst/>
                <a:rect l="l" t="t" r="r" b="b"/>
                <a:pathLst>
                  <a:path w="2491486" h="2491486">
                    <a:moveTo>
                      <a:pt x="0" y="1245743"/>
                    </a:moveTo>
                    <a:cubicBezTo>
                      <a:pt x="0" y="557784"/>
                      <a:pt x="557784" y="0"/>
                      <a:pt x="1245743" y="0"/>
                    </a:cubicBezTo>
                    <a:cubicBezTo>
                      <a:pt x="1933702" y="0"/>
                      <a:pt x="2491486" y="557784"/>
                      <a:pt x="2491486" y="1245743"/>
                    </a:cubicBezTo>
                    <a:cubicBezTo>
                      <a:pt x="2491486" y="1933702"/>
                      <a:pt x="1933702" y="2491486"/>
                      <a:pt x="1245743" y="2491486"/>
                    </a:cubicBezTo>
                    <a:cubicBezTo>
                      <a:pt x="557784" y="2491486"/>
                      <a:pt x="0" y="1933702"/>
                      <a:pt x="0" y="1245743"/>
                    </a:cubicBezTo>
                    <a:close/>
                  </a:path>
                </a:pathLst>
              </a:custGeom>
              <a:solidFill>
                <a:srgbClr val="404040"/>
              </a:solidFill>
            </p:spPr>
          </p:sp>
        </p:grp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F2115206-7DAC-690D-6F4D-60AE1DDD687F}"/>
                </a:ext>
              </a:extLst>
            </p:cNvPr>
            <p:cNvSpPr txBox="1"/>
            <p:nvPr/>
          </p:nvSpPr>
          <p:spPr>
            <a:xfrm>
              <a:off x="1465036" y="5551476"/>
              <a:ext cx="2350278" cy="8207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ko-KR" altLang="en-US" sz="2700" b="1" dirty="0">
                  <a:solidFill>
                    <a:schemeClr val="bg1"/>
                  </a:solidFill>
                  <a:latin typeface="Arimo"/>
                  <a:ea typeface="Arimo"/>
                  <a:cs typeface="Arimo"/>
                  <a:sym typeface="Arimo"/>
                </a:rPr>
                <a:t>현재 </a:t>
              </a:r>
              <a:endParaRPr lang="en-US" altLang="ko-KR" sz="2700" b="1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algn="ctr">
                <a:lnSpc>
                  <a:spcPts val="3240"/>
                </a:lnSpc>
              </a:pPr>
              <a:r>
                <a:rPr lang="ko-KR" altLang="en-US" sz="2700" b="1" dirty="0">
                  <a:solidFill>
                    <a:schemeClr val="bg1"/>
                  </a:solidFill>
                  <a:latin typeface="Arimo"/>
                  <a:ea typeface="Arimo"/>
                  <a:cs typeface="Arimo"/>
                  <a:sym typeface="Arimo"/>
                </a:rPr>
                <a:t>시스템</a:t>
              </a:r>
              <a:endParaRPr lang="en-US" sz="2700" b="1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9F4E87C4-F3A1-DE2C-75E6-9D28399FF189}"/>
              </a:ext>
            </a:extLst>
          </p:cNvPr>
          <p:cNvSpPr txBox="1"/>
          <p:nvPr/>
        </p:nvSpPr>
        <p:spPr>
          <a:xfrm>
            <a:off x="5700645" y="2833092"/>
            <a:ext cx="2911219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ko-KR" altLang="en-US" sz="3200" b="1" dirty="0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적용 범위 확장</a:t>
            </a:r>
            <a:endParaRPr lang="en-US" sz="3200" b="1" dirty="0">
              <a:solidFill>
                <a:srgbClr val="26262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024E7520-440F-0037-32FE-7186A3778B7E}"/>
              </a:ext>
            </a:extLst>
          </p:cNvPr>
          <p:cNvSpPr txBox="1"/>
          <p:nvPr/>
        </p:nvSpPr>
        <p:spPr>
          <a:xfrm>
            <a:off x="12358539" y="2071092"/>
            <a:ext cx="2350278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ko-KR" altLang="en-US" sz="3200" b="1" dirty="0">
                <a:solidFill>
                  <a:srgbClr val="262626"/>
                </a:solidFill>
                <a:latin typeface="Arimo"/>
                <a:ea typeface="Arimo"/>
                <a:cs typeface="Arimo"/>
                <a:sym typeface="Arimo"/>
              </a:rPr>
              <a:t>기능 고도화</a:t>
            </a:r>
            <a:endParaRPr lang="en-US" sz="3200" b="1" dirty="0">
              <a:solidFill>
                <a:srgbClr val="26262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11FCF9E-883D-5EB3-478B-6B593CA55AA4}"/>
              </a:ext>
            </a:extLst>
          </p:cNvPr>
          <p:cNvSpPr txBox="1"/>
          <p:nvPr/>
        </p:nvSpPr>
        <p:spPr>
          <a:xfrm>
            <a:off x="5854686" y="4570344"/>
            <a:ext cx="2350278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ko-KR" altLang="en-US" sz="27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전국구</a:t>
            </a:r>
            <a:endParaRPr lang="en-US" sz="2700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32C03A97-D5AD-FED5-BAF2-E60ABAE1B432}"/>
              </a:ext>
            </a:extLst>
          </p:cNvPr>
          <p:cNvSpPr txBox="1"/>
          <p:nvPr/>
        </p:nvSpPr>
        <p:spPr>
          <a:xfrm>
            <a:off x="5854686" y="6704269"/>
            <a:ext cx="2350278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ko-KR" altLang="en-US" sz="27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모든 업종</a:t>
            </a:r>
            <a:endParaRPr lang="en-US" sz="2700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C26D751-F83E-21E8-AB9C-7A4186B65AEF}"/>
              </a:ext>
            </a:extLst>
          </p:cNvPr>
          <p:cNvSpPr txBox="1"/>
          <p:nvPr/>
        </p:nvSpPr>
        <p:spPr>
          <a:xfrm>
            <a:off x="12358539" y="3645263"/>
            <a:ext cx="2350278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ko-KR" altLang="en-US" sz="27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실시간 예측</a:t>
            </a:r>
            <a:endParaRPr lang="en-US" sz="2700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8B4378F-1EB0-B72D-2CD4-8F760951C03E}"/>
              </a:ext>
            </a:extLst>
          </p:cNvPr>
          <p:cNvSpPr txBox="1"/>
          <p:nvPr/>
        </p:nvSpPr>
        <p:spPr>
          <a:xfrm>
            <a:off x="12345839" y="5805013"/>
            <a:ext cx="2350278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ko-KR" altLang="en-US" sz="27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성공 예측</a:t>
            </a:r>
            <a:endParaRPr lang="en-US" sz="2700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77366BD3-550E-1A1A-5C98-91C9A21B0A70}"/>
              </a:ext>
            </a:extLst>
          </p:cNvPr>
          <p:cNvSpPr txBox="1"/>
          <p:nvPr/>
        </p:nvSpPr>
        <p:spPr>
          <a:xfrm>
            <a:off x="12346524" y="7723660"/>
            <a:ext cx="2350278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ko-KR" altLang="en-US" sz="27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경기 전망</a:t>
            </a:r>
            <a:endParaRPr lang="en-US" altLang="ko-KR" sz="2700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3240"/>
              </a:lnSpc>
            </a:pPr>
            <a:r>
              <a:rPr lang="ko-KR" altLang="en-US" sz="27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시뮬레이션</a:t>
            </a:r>
            <a:endParaRPr lang="en-US" sz="2700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B3DA12-16AA-C221-6848-2B001BDD25AC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개요   데이터 분석 및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</a:rPr>
              <a:t>전처리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</a:t>
            </a:r>
            <a:r>
              <a:rPr lang="ko-KR" altLang="en-US" sz="1600" b="1" dirty="0"/>
              <a:t>조기 경보 시스템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결론 및 의의</a:t>
            </a:r>
          </a:p>
        </p:txBody>
      </p:sp>
    </p:spTree>
    <p:extLst>
      <p:ext uri="{BB962C8B-B14F-4D97-AF65-F5344CB8AC3E}">
        <p14:creationId xmlns:p14="http://schemas.microsoft.com/office/powerpoint/2010/main" val="394894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2950" y="628650"/>
            <a:ext cx="1479519" cy="651415"/>
            <a:chOff x="0" y="0"/>
            <a:chExt cx="1972692" cy="8685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61766" y="750183"/>
            <a:ext cx="841920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37149" y="661882"/>
            <a:ext cx="838805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9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기대</a:t>
            </a:r>
            <a:r>
              <a:rPr lang="en-US" sz="3000" b="1" spc="9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00" b="1" spc="9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효과</a:t>
            </a:r>
            <a:endParaRPr lang="en-US" sz="3000" b="1" spc="9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6" name="Group 6"/>
          <p:cNvGrpSpPr/>
          <p:nvPr/>
        </p:nvGrpSpPr>
        <p:grpSpPr>
          <a:xfrm rot="5395410">
            <a:off x="5571657" y="5448183"/>
            <a:ext cx="7144685" cy="9525"/>
            <a:chOff x="0" y="0"/>
            <a:chExt cx="9526247" cy="12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26270" cy="12700"/>
            </a:xfrm>
            <a:custGeom>
              <a:avLst/>
              <a:gdLst/>
              <a:ahLst/>
              <a:cxnLst/>
              <a:rect l="l" t="t" r="r" b="b"/>
              <a:pathLst>
                <a:path w="9526270" h="12700">
                  <a:moveTo>
                    <a:pt x="6350" y="0"/>
                  </a:moveTo>
                  <a:lnTo>
                    <a:pt x="9519920" y="0"/>
                  </a:lnTo>
                  <a:cubicBezTo>
                    <a:pt x="9523476" y="0"/>
                    <a:pt x="9526270" y="2794"/>
                    <a:pt x="9526270" y="6350"/>
                  </a:cubicBezTo>
                  <a:cubicBezTo>
                    <a:pt x="9526270" y="9906"/>
                    <a:pt x="9523476" y="12700"/>
                    <a:pt x="951992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733425" y="1880607"/>
            <a:ext cx="7713250" cy="7301458"/>
          </a:xfrm>
          <a:custGeom>
            <a:avLst/>
            <a:gdLst/>
            <a:ahLst/>
            <a:cxnLst/>
            <a:rect l="l" t="t" r="r" b="b"/>
            <a:pathLst>
              <a:path w="7713250" h="7301458">
                <a:moveTo>
                  <a:pt x="0" y="0"/>
                </a:moveTo>
                <a:lnTo>
                  <a:pt x="7713250" y="0"/>
                </a:lnTo>
                <a:lnTo>
                  <a:pt x="7713250" y="7301458"/>
                </a:lnTo>
                <a:lnTo>
                  <a:pt x="0" y="73014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20725" y="2354469"/>
            <a:ext cx="3546987" cy="42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소상</a:t>
            </a:r>
            <a:r>
              <a:rPr lang="en-US" sz="27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공인</a:t>
            </a:r>
            <a:endParaRPr lang="en-US" sz="270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74466" y="2890087"/>
            <a:ext cx="6716712" cy="4322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1300" lvl="1" indent="-120650" algn="just">
              <a:lnSpc>
                <a:spcPct val="200000"/>
              </a:lnSpc>
              <a:buFont typeface="Arial"/>
              <a:buChar char="•"/>
            </a:pPr>
            <a:r>
              <a:rPr lang="en-US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지속</a:t>
            </a:r>
            <a:r>
              <a:rPr lang="en-US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가능한</a:t>
            </a:r>
            <a:r>
              <a:rPr lang="en-US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상권</a:t>
            </a:r>
            <a:r>
              <a:rPr lang="en-US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생태계</a:t>
            </a:r>
            <a:r>
              <a:rPr lang="en-US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조성</a:t>
            </a:r>
            <a:r>
              <a:rPr lang="en-US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및 </a:t>
            </a:r>
            <a:r>
              <a:rPr lang="en-US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지역</a:t>
            </a:r>
            <a:r>
              <a:rPr lang="en-US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경제</a:t>
            </a:r>
            <a:r>
              <a:rPr lang="en-US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활성화</a:t>
            </a:r>
            <a:endParaRPr lang="en-US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241300" lvl="1" indent="-120650" algn="just">
              <a:lnSpc>
                <a:spcPts val="3600"/>
              </a:lnSpc>
            </a:pPr>
            <a:r>
              <a:rPr lang="en-US" altLang="ko-KR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</a:t>
            </a:r>
            <a:r>
              <a:rPr lang="ko-KR" altLang="en-US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폐업 극복으로 상권 매출 </a:t>
            </a:r>
            <a:r>
              <a:rPr lang="en-US" altLang="ko-KR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5.2% </a:t>
            </a:r>
            <a:r>
              <a:rPr lang="ko-KR" altLang="en-US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증가</a:t>
            </a:r>
            <a:endParaRPr lang="en-US" altLang="ko-KR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241300" lvl="1" indent="-120650" algn="just">
              <a:lnSpc>
                <a:spcPct val="200000"/>
              </a:lnSpc>
              <a:buFont typeface="Arial"/>
              <a:buChar char="•"/>
            </a:pPr>
            <a:r>
              <a:rPr lang="en-US" altLang="ko-KR" b="1" dirty="0" err="1">
                <a:solidFill>
                  <a:srgbClr val="000000"/>
                </a:solidFill>
                <a:latin typeface="Arimo Bold"/>
                <a:ea typeface="Calibri (MS)"/>
                <a:cs typeface="Calibri (MS)"/>
                <a:sym typeface="Calibri (MS)"/>
              </a:rPr>
              <a:t>가맹점</a:t>
            </a:r>
            <a:r>
              <a:rPr lang="en-US" altLang="ko-KR" b="1" dirty="0">
                <a:solidFill>
                  <a:srgbClr val="000000"/>
                </a:solidFill>
                <a:latin typeface="Arimo Bold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b="1" dirty="0" err="1">
                <a:solidFill>
                  <a:srgbClr val="000000"/>
                </a:solidFill>
                <a:latin typeface="Arimo Bold"/>
                <a:ea typeface="Calibri (MS)"/>
                <a:cs typeface="Calibri (MS)"/>
                <a:sym typeface="Calibri (MS)"/>
              </a:rPr>
              <a:t>생존력</a:t>
            </a:r>
            <a:r>
              <a:rPr lang="en-US" altLang="ko-KR" b="1" dirty="0">
                <a:solidFill>
                  <a:srgbClr val="000000"/>
                </a:solidFill>
                <a:latin typeface="Arimo Bold"/>
                <a:ea typeface="Calibri (MS)"/>
                <a:cs typeface="Calibri (MS)"/>
                <a:sym typeface="Calibri (MS)"/>
              </a:rPr>
              <a:t> </a:t>
            </a:r>
            <a:r>
              <a:rPr lang="en-US" altLang="ko-KR" b="1" dirty="0" err="1">
                <a:solidFill>
                  <a:srgbClr val="000000"/>
                </a:solidFill>
                <a:latin typeface="Arimo Bold"/>
                <a:ea typeface="Calibri (MS)"/>
                <a:cs typeface="Calibri (MS)"/>
                <a:sym typeface="Calibri (MS)"/>
              </a:rPr>
              <a:t>강화</a:t>
            </a:r>
            <a:r>
              <a:rPr lang="en-US" altLang="ko-KR" b="1" dirty="0">
                <a:solidFill>
                  <a:srgbClr val="000000"/>
                </a:solidFill>
                <a:latin typeface="Arimo Bold"/>
                <a:ea typeface="Calibri (MS)"/>
                <a:cs typeface="Calibri (MS)"/>
                <a:sym typeface="Calibri (MS)"/>
              </a:rPr>
              <a:t> </a:t>
            </a:r>
          </a:p>
          <a:p>
            <a:pPr marL="120650" lvl="1" algn="just">
              <a:lnSpc>
                <a:spcPts val="3600"/>
              </a:lnSpc>
            </a:pPr>
            <a:r>
              <a:rPr lang="en-US" altLang="ko-KR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</a:t>
            </a:r>
            <a:r>
              <a:rPr lang="ko-KR" altLang="en-US" dirty="0">
                <a:solidFill>
                  <a:srgbClr val="000000"/>
                </a:solidFill>
                <a:latin typeface="Arimo" panose="020B0600000101010101"/>
                <a:ea typeface="Calibri (MS)"/>
                <a:cs typeface="Calibri (MS)"/>
                <a:sym typeface="Calibri (MS)"/>
              </a:rPr>
              <a:t>유연한 폐업 위기 극복</a:t>
            </a:r>
            <a:endParaRPr lang="en-US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241300" lvl="1" indent="-120650" algn="just">
              <a:lnSpc>
                <a:spcPct val="200000"/>
              </a:lnSpc>
              <a:buFont typeface="Arial"/>
              <a:buChar char="•"/>
            </a:pPr>
            <a:r>
              <a:rPr lang="en-US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선제적</a:t>
            </a:r>
            <a:r>
              <a:rPr lang="en-US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위기</a:t>
            </a:r>
            <a:r>
              <a:rPr lang="en-US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대응</a:t>
            </a:r>
            <a:r>
              <a:rPr lang="en-US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marL="120650" lvl="1" algn="just">
              <a:lnSpc>
                <a:spcPts val="3600"/>
              </a:lnSpc>
            </a:pPr>
            <a:r>
              <a:rPr lang="en-US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데이터</a:t>
            </a:r>
            <a:r>
              <a:rPr lang="en-US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기반의</a:t>
            </a:r>
            <a:r>
              <a:rPr lang="en-US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객관적</a:t>
            </a:r>
            <a:r>
              <a:rPr lang="en-US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위기</a:t>
            </a:r>
            <a:r>
              <a:rPr lang="en-US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징후</a:t>
            </a:r>
            <a:r>
              <a:rPr lang="en-US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포착</a:t>
            </a:r>
            <a:endParaRPr lang="en-US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241300" lvl="1" indent="-120650" algn="just">
              <a:lnSpc>
                <a:spcPct val="200000"/>
              </a:lnSpc>
              <a:buFont typeface="Arial"/>
              <a:buChar char="•"/>
            </a:pPr>
            <a:r>
              <a:rPr lang="en-US" b="1" dirty="0" err="1">
                <a:solidFill>
                  <a:srgbClr val="000000"/>
                </a:solidFill>
                <a:latin typeface="Arimo Bold"/>
                <a:ea typeface="Calibri (MS) Bold"/>
                <a:cs typeface="Calibri (MS) Bold"/>
                <a:sym typeface="Calibri (MS) Bold"/>
              </a:rPr>
              <a:t>맞춤형</a:t>
            </a:r>
            <a:r>
              <a:rPr lang="en-US" b="1" dirty="0">
                <a:solidFill>
                  <a:srgbClr val="000000"/>
                </a:solidFill>
                <a:latin typeface="Arimo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mo Bold"/>
                <a:ea typeface="Calibri (MS) Bold"/>
                <a:cs typeface="Calibri (MS) Bold"/>
                <a:sym typeface="Calibri (MS) Bold"/>
              </a:rPr>
              <a:t>컨설팅</a:t>
            </a:r>
            <a:r>
              <a:rPr lang="en-US" dirty="0">
                <a:solidFill>
                  <a:srgbClr val="000000"/>
                </a:solidFill>
                <a:latin typeface="Arimo Bold"/>
                <a:ea typeface="Calibri (MS)"/>
                <a:cs typeface="Calibri (MS)"/>
                <a:sym typeface="Calibri (MS)"/>
              </a:rPr>
              <a:t> </a:t>
            </a:r>
          </a:p>
          <a:p>
            <a:pPr marL="120650" lvl="1" algn="just">
              <a:lnSpc>
                <a:spcPts val="3600"/>
              </a:lnSpc>
            </a:pPr>
            <a:r>
              <a:rPr lang="en-US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LLM을</a:t>
            </a:r>
            <a:r>
              <a:rPr lang="en-US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통한</a:t>
            </a:r>
            <a:r>
              <a:rPr lang="en-US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신속</a:t>
            </a:r>
            <a:r>
              <a:rPr lang="en-US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및 </a:t>
            </a:r>
            <a:r>
              <a:rPr lang="en-US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저비용</a:t>
            </a:r>
            <a:r>
              <a:rPr lang="en-US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비즈니스</a:t>
            </a:r>
            <a:r>
              <a:rPr lang="en-US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코칭</a:t>
            </a:r>
            <a:endParaRPr lang="en-US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241300" lvl="1" indent="-120650" algn="just">
              <a:lnSpc>
                <a:spcPts val="1980"/>
              </a:lnSpc>
            </a:pPr>
            <a:endParaRPr lang="en-US" sz="20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9877425" y="1880606"/>
            <a:ext cx="7713250" cy="7284735"/>
          </a:xfrm>
          <a:custGeom>
            <a:avLst/>
            <a:gdLst/>
            <a:ahLst/>
            <a:cxnLst/>
            <a:rect l="l" t="t" r="r" b="b"/>
            <a:pathLst>
              <a:path w="7713250" h="7284735">
                <a:moveTo>
                  <a:pt x="0" y="0"/>
                </a:moveTo>
                <a:lnTo>
                  <a:pt x="7713250" y="0"/>
                </a:lnTo>
                <a:lnTo>
                  <a:pt x="7713250" y="7284735"/>
                </a:lnTo>
                <a:lnTo>
                  <a:pt x="0" y="7284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364726" y="2354468"/>
            <a:ext cx="3546987" cy="42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카드사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0" y="2899612"/>
            <a:ext cx="6716712" cy="5380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7170" lvl="1" indent="-108585" algn="just">
              <a:lnSpc>
                <a:spcPct val="200000"/>
              </a:lnSpc>
              <a:buFont typeface="Arial"/>
              <a:buChar char="•"/>
            </a:pPr>
            <a:r>
              <a:rPr lang="en-US" sz="18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핵심</a:t>
            </a:r>
            <a:r>
              <a:rPr lang="en-US" sz="1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수익</a:t>
            </a:r>
            <a:r>
              <a:rPr lang="en-US" sz="1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기반</a:t>
            </a:r>
            <a:r>
              <a:rPr lang="en-US" sz="1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보호</a:t>
            </a:r>
            <a:r>
              <a:rPr lang="en-US" sz="1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</a:t>
            </a:r>
          </a:p>
          <a:p>
            <a:pPr marL="108585" lvl="1" algn="just">
              <a:lnSpc>
                <a:spcPct val="150000"/>
              </a:lnSpc>
            </a:pPr>
            <a:r>
              <a:rPr lang="en-US" b="1" dirty="0">
                <a:solidFill>
                  <a:srgbClr val="000000"/>
                </a:solidFill>
                <a:latin typeface="Calibri (MS) Bold"/>
                <a:ea typeface="Calibri (MS)"/>
                <a:cs typeface="Calibri (MS)"/>
                <a:sym typeface="Calibri (MS) Bold"/>
              </a:rPr>
              <a:t>  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폐업으로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인한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고객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이탈을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선제적으로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방어</a:t>
            </a:r>
            <a:endParaRPr lang="en-US" sz="18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217170" lvl="1" indent="-108585" algn="just">
              <a:lnSpc>
                <a:spcPct val="200000"/>
              </a:lnSpc>
              <a:buFont typeface="Arial"/>
              <a:buChar char="•"/>
            </a:pPr>
            <a:r>
              <a:rPr lang="en-US" sz="18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가맹점</a:t>
            </a:r>
            <a:r>
              <a:rPr lang="en-US" sz="1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리스크</a:t>
            </a:r>
            <a:r>
              <a:rPr lang="en-US" sz="1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관리</a:t>
            </a:r>
            <a:r>
              <a:rPr lang="en-US" sz="1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marL="108585" lvl="1" algn="just">
              <a:lnSpc>
                <a:spcPct val="150000"/>
              </a:lnSpc>
            </a:pPr>
            <a:r>
              <a:rPr lang="en-US" b="1" dirty="0">
                <a:solidFill>
                  <a:srgbClr val="000000"/>
                </a:solidFill>
                <a:latin typeface="Calibri (MS) Bold"/>
                <a:ea typeface="Calibri (MS)"/>
                <a:cs typeface="Calibri (MS)"/>
                <a:sym typeface="Calibri (MS) Bold"/>
              </a:rPr>
              <a:t>  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위기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징후를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선제적으로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감지하여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카드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매출채권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또는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가맹점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대출의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부실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위험을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사전에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관리</a:t>
            </a:r>
            <a:endParaRPr lang="en-US" sz="18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217170" lvl="1" indent="-108585" algn="just">
              <a:lnSpc>
                <a:spcPct val="200000"/>
              </a:lnSpc>
              <a:buFont typeface="Arial"/>
              <a:buChar char="•"/>
            </a:pPr>
            <a:r>
              <a:rPr lang="en-US" sz="18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차별화된</a:t>
            </a:r>
            <a:r>
              <a:rPr lang="en-US" sz="1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파트너십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marL="108585" lvl="1" algn="just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단순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결제사를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넘어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가맹점의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성장을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돕는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'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비즈니스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파트너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'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이미지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제고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marL="217170" lvl="1" indent="-108585" algn="just">
              <a:lnSpc>
                <a:spcPct val="200000"/>
              </a:lnSpc>
              <a:buFont typeface="Arial"/>
              <a:buChar char="•"/>
            </a:pPr>
            <a:r>
              <a:rPr lang="en-US" sz="18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맞춤형</a:t>
            </a:r>
            <a:r>
              <a:rPr lang="en-US" sz="1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금융상품</a:t>
            </a:r>
            <a:r>
              <a:rPr lang="en-US" sz="1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연계</a:t>
            </a:r>
            <a:endParaRPr lang="en-US" sz="18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108585" lvl="1"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소상공인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긴급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운영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자금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대출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'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상품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자동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추천</a:t>
            </a:r>
            <a:endParaRPr lang="en-US" sz="18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108585" lvl="1"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카드사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제공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타겟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마케팅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/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홍보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서비스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' 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제안</a:t>
            </a:r>
            <a:endParaRPr lang="en-US" sz="18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217170" lvl="1" indent="-108585" algn="just">
              <a:lnSpc>
                <a:spcPts val="1980"/>
              </a:lnSpc>
            </a:pPr>
            <a:endParaRPr lang="en-US" sz="18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5203A5-FC7E-F9C6-372A-69A2EFEFD37B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개요   데이터 분석 및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</a:rPr>
              <a:t>전처리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</a:t>
            </a:r>
            <a:r>
              <a:rPr lang="ko-KR" altLang="en-US" sz="1600" b="1" dirty="0"/>
              <a:t>조기 경보 시스템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결론 및 의의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BC40C04-4F75-E772-C043-61A04F0A86CB}"/>
              </a:ext>
            </a:extLst>
          </p:cNvPr>
          <p:cNvGrpSpPr/>
          <p:nvPr/>
        </p:nvGrpSpPr>
        <p:grpSpPr>
          <a:xfrm>
            <a:off x="742950" y="628650"/>
            <a:ext cx="1479519" cy="651415"/>
            <a:chOff x="0" y="0"/>
            <a:chExt cx="1972692" cy="86855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814605-5E2F-78DE-EE63-6F03D21C5E63}"/>
                </a:ext>
              </a:extLst>
            </p:cNvPr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D7A922A1-BA2C-778E-750D-9D84510C1C42}"/>
              </a:ext>
            </a:extLst>
          </p:cNvPr>
          <p:cNvSpPr txBox="1"/>
          <p:nvPr/>
        </p:nvSpPr>
        <p:spPr>
          <a:xfrm>
            <a:off x="1061766" y="750183"/>
            <a:ext cx="841920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9195DFB-C368-4CFF-EDE6-175813AB8262}"/>
              </a:ext>
            </a:extLst>
          </p:cNvPr>
          <p:cNvSpPr txBox="1"/>
          <p:nvPr/>
        </p:nvSpPr>
        <p:spPr>
          <a:xfrm>
            <a:off x="2737149" y="661882"/>
            <a:ext cx="838805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ko-KR" altLang="en-US" sz="3000" b="1" spc="9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결론 및 요약</a:t>
            </a:r>
            <a:endParaRPr lang="en-US" sz="3000" b="1" spc="9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3D7D200-FDAF-9F34-0A5E-E991FB956E30}"/>
              </a:ext>
            </a:extLst>
          </p:cNvPr>
          <p:cNvGrpSpPr/>
          <p:nvPr/>
        </p:nvGrpSpPr>
        <p:grpSpPr>
          <a:xfrm>
            <a:off x="6710060" y="2857500"/>
            <a:ext cx="4867880" cy="6441637"/>
            <a:chOff x="6705544" y="2773130"/>
            <a:chExt cx="4867880" cy="6441637"/>
          </a:xfrm>
        </p:grpSpPr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F94DAFC7-FB14-018A-5B5B-B87388450565}"/>
                </a:ext>
              </a:extLst>
            </p:cNvPr>
            <p:cNvSpPr/>
            <p:nvPr/>
          </p:nvSpPr>
          <p:spPr>
            <a:xfrm rot="10800000" flipV="1">
              <a:off x="6725672" y="7070778"/>
              <a:ext cx="4836572" cy="869385"/>
            </a:xfrm>
            <a:custGeom>
              <a:avLst/>
              <a:gdLst/>
              <a:ahLst/>
              <a:cxnLst/>
              <a:rect l="l" t="t" r="r" b="b"/>
              <a:pathLst>
                <a:path w="8003540" h="1438656">
                  <a:moveTo>
                    <a:pt x="0" y="0"/>
                  </a:moveTo>
                  <a:lnTo>
                    <a:pt x="8003540" y="0"/>
                  </a:lnTo>
                  <a:lnTo>
                    <a:pt x="8003540" y="1438656"/>
                  </a:lnTo>
                  <a:lnTo>
                    <a:pt x="0" y="1438656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6393CD41-68A2-8DBF-3335-CE5359DC46BE}"/>
                </a:ext>
              </a:extLst>
            </p:cNvPr>
            <p:cNvSpPr/>
            <p:nvPr/>
          </p:nvSpPr>
          <p:spPr>
            <a:xfrm rot="10800000" flipV="1">
              <a:off x="6730924" y="5802828"/>
              <a:ext cx="4836572" cy="869385"/>
            </a:xfrm>
            <a:custGeom>
              <a:avLst/>
              <a:gdLst/>
              <a:ahLst/>
              <a:cxnLst/>
              <a:rect l="l" t="t" r="r" b="b"/>
              <a:pathLst>
                <a:path w="8003540" h="1438656">
                  <a:moveTo>
                    <a:pt x="0" y="0"/>
                  </a:moveTo>
                  <a:lnTo>
                    <a:pt x="8003540" y="0"/>
                  </a:lnTo>
                  <a:lnTo>
                    <a:pt x="8003540" y="1438656"/>
                  </a:lnTo>
                  <a:lnTo>
                    <a:pt x="0" y="1438656"/>
                  </a:lnTo>
                  <a:close/>
                </a:path>
              </a:pathLst>
            </a:custGeom>
            <a:solidFill>
              <a:srgbClr val="BFBFBF"/>
            </a:solidFill>
          </p:spPr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F0B3C83-786E-1576-4A90-7B2B89BC0AAE}"/>
                </a:ext>
              </a:extLst>
            </p:cNvPr>
            <p:cNvSpPr/>
            <p:nvPr/>
          </p:nvSpPr>
          <p:spPr>
            <a:xfrm rot="10800000" flipV="1">
              <a:off x="6725702" y="3238500"/>
              <a:ext cx="4836572" cy="869385"/>
            </a:xfrm>
            <a:custGeom>
              <a:avLst/>
              <a:gdLst/>
              <a:ahLst/>
              <a:cxnLst/>
              <a:rect l="l" t="t" r="r" b="b"/>
              <a:pathLst>
                <a:path w="8003540" h="1438656">
                  <a:moveTo>
                    <a:pt x="0" y="0"/>
                  </a:moveTo>
                  <a:lnTo>
                    <a:pt x="8003540" y="0"/>
                  </a:lnTo>
                  <a:lnTo>
                    <a:pt x="8003540" y="1438656"/>
                  </a:lnTo>
                  <a:lnTo>
                    <a:pt x="0" y="1438656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F281704-3538-EA70-916F-084C1F8FDD52}"/>
                </a:ext>
              </a:extLst>
            </p:cNvPr>
            <p:cNvSpPr/>
            <p:nvPr/>
          </p:nvSpPr>
          <p:spPr>
            <a:xfrm rot="10800000" flipV="1">
              <a:off x="6725673" y="4513104"/>
              <a:ext cx="4836599" cy="869385"/>
            </a:xfrm>
            <a:custGeom>
              <a:avLst/>
              <a:gdLst/>
              <a:ahLst/>
              <a:cxnLst/>
              <a:rect l="l" t="t" r="r" b="b"/>
              <a:pathLst>
                <a:path w="8003540" h="1438656">
                  <a:moveTo>
                    <a:pt x="0" y="0"/>
                  </a:moveTo>
                  <a:lnTo>
                    <a:pt x="8003540" y="0"/>
                  </a:lnTo>
                  <a:lnTo>
                    <a:pt x="8003540" y="1438656"/>
                  </a:lnTo>
                  <a:lnTo>
                    <a:pt x="0" y="1438656"/>
                  </a:ln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AD09F8C-B8CF-0A0B-67E8-B220CC8C7E4E}"/>
                </a:ext>
              </a:extLst>
            </p:cNvPr>
            <p:cNvSpPr/>
            <p:nvPr/>
          </p:nvSpPr>
          <p:spPr>
            <a:xfrm rot="10800000" flipV="1">
              <a:off x="6705547" y="8345382"/>
              <a:ext cx="4836572" cy="869385"/>
            </a:xfrm>
            <a:custGeom>
              <a:avLst/>
              <a:gdLst/>
              <a:ahLst/>
              <a:cxnLst/>
              <a:rect l="l" t="t" r="r" b="b"/>
              <a:pathLst>
                <a:path w="8003540" h="1438656">
                  <a:moveTo>
                    <a:pt x="0" y="0"/>
                  </a:moveTo>
                  <a:lnTo>
                    <a:pt x="8003540" y="0"/>
                  </a:lnTo>
                  <a:lnTo>
                    <a:pt x="8003540" y="1438656"/>
                  </a:lnTo>
                  <a:lnTo>
                    <a:pt x="0" y="1438656"/>
                  </a:lnTo>
                  <a:close/>
                </a:path>
              </a:pathLst>
            </a:custGeom>
            <a:solidFill>
              <a:srgbClr val="262626"/>
            </a:solidFill>
          </p:spPr>
        </p:sp>
        <p:sp>
          <p:nvSpPr>
            <p:cNvPr id="18" name="AutoShape 18">
              <a:extLst>
                <a:ext uri="{FF2B5EF4-FFF2-40B4-BE49-F238E27FC236}">
                  <a16:creationId xmlns:a16="http://schemas.microsoft.com/office/drawing/2014/main" id="{1CC28FF4-98A3-C552-F0A9-7E0C727D6737}"/>
                </a:ext>
              </a:extLst>
            </p:cNvPr>
            <p:cNvSpPr>
              <a:spLocks noChangeAspect="1"/>
            </p:cNvSpPr>
            <p:nvPr/>
          </p:nvSpPr>
          <p:spPr>
            <a:xfrm rot="10800000" flipV="1">
              <a:off x="9498203" y="2773130"/>
              <a:ext cx="282472" cy="23024"/>
            </a:xfrm>
            <a:prstGeom prst="line">
              <a:avLst/>
            </a:prstGeom>
            <a:ln w="28575" cap="rnd">
              <a:solidFill>
                <a:srgbClr val="FFFFFF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9" name="AutoShape 19">
              <a:extLst>
                <a:ext uri="{FF2B5EF4-FFF2-40B4-BE49-F238E27FC236}">
                  <a16:creationId xmlns:a16="http://schemas.microsoft.com/office/drawing/2014/main" id="{9A933FB5-9EDC-2918-DD69-700D5170F1F6}"/>
                </a:ext>
              </a:extLst>
            </p:cNvPr>
            <p:cNvSpPr>
              <a:spLocks noChangeAspect="1"/>
            </p:cNvSpPr>
            <p:nvPr/>
          </p:nvSpPr>
          <p:spPr>
            <a:xfrm rot="10800000" flipV="1">
              <a:off x="9454133" y="4186407"/>
              <a:ext cx="355156" cy="23024"/>
            </a:xfrm>
            <a:prstGeom prst="line">
              <a:avLst/>
            </a:prstGeom>
            <a:ln w="28575" cap="rnd">
              <a:solidFill>
                <a:srgbClr val="FFFFFF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8A57E3AD-5A03-9007-0256-0C65F9E0ED37}"/>
                </a:ext>
              </a:extLst>
            </p:cNvPr>
            <p:cNvSpPr txBox="1">
              <a:spLocks noChangeAspect="1"/>
            </p:cNvSpPr>
            <p:nvPr/>
          </p:nvSpPr>
          <p:spPr>
            <a:xfrm rot="10800000" flipV="1">
              <a:off x="6705576" y="3448127"/>
              <a:ext cx="4836547" cy="410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ko-KR" altLang="en-US" sz="2700" dirty="0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모델 학습</a:t>
              </a:r>
              <a:endParaRPr lang="en-US" sz="2700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8CAE9051-5F91-ED05-3E7F-A9801279BF73}"/>
                </a:ext>
              </a:extLst>
            </p:cNvPr>
            <p:cNvSpPr txBox="1">
              <a:spLocks noChangeAspect="1"/>
            </p:cNvSpPr>
            <p:nvPr/>
          </p:nvSpPr>
          <p:spPr>
            <a:xfrm rot="10800000" flipV="1">
              <a:off x="6736875" y="4742597"/>
              <a:ext cx="4805246" cy="410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altLang="ko-KR" sz="2700" dirty="0" err="1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폐업</a:t>
              </a:r>
              <a:r>
                <a:rPr lang="en-US" altLang="ko-KR" sz="2700" dirty="0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altLang="ko-KR" sz="2700" dirty="0" err="1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위험</a:t>
              </a:r>
              <a:r>
                <a:rPr lang="en-US" altLang="ko-KR" sz="2700" dirty="0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altLang="ko-KR" sz="2700" dirty="0" err="1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가맹점</a:t>
              </a:r>
              <a:r>
                <a:rPr lang="en-US" altLang="ko-KR" sz="2700" dirty="0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altLang="ko-KR" sz="2700" dirty="0" err="1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선별</a:t>
              </a:r>
              <a:endParaRPr lang="en-US" altLang="ko-KR" sz="2700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B158A1C2-3A27-E136-E23D-0EBD09A9B715}"/>
                </a:ext>
              </a:extLst>
            </p:cNvPr>
            <p:cNvSpPr txBox="1">
              <a:spLocks noChangeAspect="1"/>
            </p:cNvSpPr>
            <p:nvPr/>
          </p:nvSpPr>
          <p:spPr>
            <a:xfrm rot="10800000" flipV="1">
              <a:off x="6725673" y="6042524"/>
              <a:ext cx="4847751" cy="4244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altLang="ko-KR" sz="2700" dirty="0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각 </a:t>
              </a:r>
              <a:r>
                <a:rPr lang="en-US" altLang="ko-KR" sz="2700" dirty="0" err="1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가맹점</a:t>
              </a:r>
              <a:r>
                <a:rPr lang="en-US" altLang="ko-KR" sz="2700" dirty="0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altLang="ko-KR" sz="2700" dirty="0" err="1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별위험</a:t>
              </a:r>
              <a:r>
                <a:rPr lang="en-US" altLang="ko-KR" sz="2700" dirty="0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altLang="ko-KR" sz="2700" dirty="0" err="1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요인</a:t>
              </a:r>
              <a:r>
                <a:rPr lang="en-US" altLang="ko-KR" sz="2700" dirty="0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altLang="ko-KR" sz="2700" dirty="0" err="1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분석</a:t>
              </a:r>
              <a:endParaRPr lang="en-US" altLang="ko-KR" sz="2700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883C7322-B0FC-ACD9-7A05-CEF64CCAC228}"/>
                </a:ext>
              </a:extLst>
            </p:cNvPr>
            <p:cNvSpPr txBox="1">
              <a:spLocks noChangeAspect="1"/>
            </p:cNvSpPr>
            <p:nvPr/>
          </p:nvSpPr>
          <p:spPr>
            <a:xfrm rot="10800000" flipV="1">
              <a:off x="6740986" y="7296592"/>
              <a:ext cx="4816447" cy="4244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altLang="ko-KR" sz="27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LLM </a:t>
              </a:r>
              <a:r>
                <a:rPr lang="en-US" altLang="ko-KR" sz="2700" dirty="0" err="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컨설팅</a:t>
              </a:r>
              <a:endParaRPr lang="en-US" altLang="ko-KR" sz="27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92443DEC-85BD-E827-41B5-3CB7D0201808}"/>
                </a:ext>
              </a:extLst>
            </p:cNvPr>
            <p:cNvSpPr txBox="1">
              <a:spLocks noChangeAspect="1"/>
            </p:cNvSpPr>
            <p:nvPr/>
          </p:nvSpPr>
          <p:spPr>
            <a:xfrm rot="10800000" flipV="1">
              <a:off x="6705544" y="8534206"/>
              <a:ext cx="4836573" cy="4917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altLang="ko-KR" sz="2700" dirty="0" err="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위기</a:t>
              </a:r>
              <a:r>
                <a:rPr lang="en-US" altLang="ko-KR" sz="27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altLang="ko-KR" sz="2700" dirty="0" err="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신호</a:t>
              </a:r>
              <a:r>
                <a:rPr lang="en-US" altLang="ko-KR" sz="27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altLang="ko-KR" sz="2700" dirty="0" err="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솔루션</a:t>
              </a:r>
              <a:r>
                <a:rPr lang="en-US" altLang="ko-KR" sz="27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altLang="ko-KR" sz="2700" dirty="0" err="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제공</a:t>
              </a:r>
              <a:endParaRPr lang="en-US" altLang="ko-KR" sz="27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6574E17-6CFC-0B56-4804-9F15BAEEA0CF}"/>
              </a:ext>
            </a:extLst>
          </p:cNvPr>
          <p:cNvSpPr/>
          <p:nvPr/>
        </p:nvSpPr>
        <p:spPr>
          <a:xfrm>
            <a:off x="960023" y="3280124"/>
            <a:ext cx="4836547" cy="6127186"/>
          </a:xfrm>
          <a:prstGeom prst="rect">
            <a:avLst/>
          </a:prstGeom>
          <a:solidFill>
            <a:srgbClr val="4A7E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C9988497-EDCB-5BD8-4602-85CDB4A06A5B}"/>
              </a:ext>
            </a:extLst>
          </p:cNvPr>
          <p:cNvSpPr txBox="1"/>
          <p:nvPr/>
        </p:nvSpPr>
        <p:spPr>
          <a:xfrm>
            <a:off x="967503" y="2227971"/>
            <a:ext cx="4836547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ko-KR" altLang="en-US" sz="3200" b="1" dirty="0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문제 제기</a:t>
            </a:r>
            <a:endParaRPr lang="en-US" sz="3200" b="1" dirty="0">
              <a:solidFill>
                <a:srgbClr val="40404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007E49-A577-355F-31BB-CDA511DDB696}"/>
              </a:ext>
            </a:extLst>
          </p:cNvPr>
          <p:cNvSpPr txBox="1"/>
          <p:nvPr/>
        </p:nvSpPr>
        <p:spPr>
          <a:xfrm>
            <a:off x="1000064" y="3280122"/>
            <a:ext cx="4796504" cy="7478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외식업 불황과 경쟁 심화로 매년 폐업하는 가맹점이 증가</a:t>
            </a:r>
            <a:endParaRPr lang="en-US" altLang="ko-KR" sz="22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o-KR" altLang="en-US" sz="1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폐업 위기에 선제적으로 대응할 객관적이고 체계적인 시스템이 부재</a:t>
            </a:r>
            <a:endParaRPr lang="en-US" altLang="ko-KR" sz="22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위기 상황에 대비할 솔루션 부재</a:t>
            </a:r>
            <a:endParaRPr lang="en-US" altLang="ko-KR" sz="22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>
              <a:lnSpc>
                <a:spcPct val="200000"/>
              </a:lnSpc>
            </a:pPr>
            <a:endParaRPr lang="en-US" altLang="ko-KR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2900" indent="-342900">
              <a:lnSpc>
                <a:spcPts val="324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2900" indent="-342900">
              <a:lnSpc>
                <a:spcPts val="324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33" name="Group 13">
            <a:extLst>
              <a:ext uri="{FF2B5EF4-FFF2-40B4-BE49-F238E27FC236}">
                <a16:creationId xmlns:a16="http://schemas.microsoft.com/office/drawing/2014/main" id="{1D247B13-D982-F869-4E0B-441BF1BA2BD9}"/>
              </a:ext>
            </a:extLst>
          </p:cNvPr>
          <p:cNvGrpSpPr/>
          <p:nvPr/>
        </p:nvGrpSpPr>
        <p:grpSpPr>
          <a:xfrm>
            <a:off x="12491431" y="3280123"/>
            <a:ext cx="4836528" cy="6127185"/>
            <a:chOff x="0" y="0"/>
            <a:chExt cx="6987512" cy="5401264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93CCD590-4815-D722-A7E4-533F0D4058CC}"/>
                </a:ext>
              </a:extLst>
            </p:cNvPr>
            <p:cNvSpPr/>
            <p:nvPr/>
          </p:nvSpPr>
          <p:spPr>
            <a:xfrm>
              <a:off x="0" y="0"/>
              <a:ext cx="6987540" cy="5401310"/>
            </a:xfrm>
            <a:custGeom>
              <a:avLst/>
              <a:gdLst/>
              <a:ahLst/>
              <a:cxnLst/>
              <a:rect l="l" t="t" r="r" b="b"/>
              <a:pathLst>
                <a:path w="6987540" h="5401310">
                  <a:moveTo>
                    <a:pt x="0" y="0"/>
                  </a:moveTo>
                  <a:lnTo>
                    <a:pt x="6987540" y="0"/>
                  </a:lnTo>
                  <a:lnTo>
                    <a:pt x="6987540" y="5401310"/>
                  </a:lnTo>
                  <a:lnTo>
                    <a:pt x="0" y="5401310"/>
                  </a:lnTo>
                  <a:close/>
                </a:path>
              </a:pathLst>
            </a:custGeom>
            <a:grpFill/>
          </p:spPr>
        </p:sp>
      </p:grpSp>
      <p:sp>
        <p:nvSpPr>
          <p:cNvPr id="35" name="TextBox 16">
            <a:extLst>
              <a:ext uri="{FF2B5EF4-FFF2-40B4-BE49-F238E27FC236}">
                <a16:creationId xmlns:a16="http://schemas.microsoft.com/office/drawing/2014/main" id="{581A830E-B720-5CDB-5A1B-DF42B1B990C9}"/>
              </a:ext>
            </a:extLst>
          </p:cNvPr>
          <p:cNvSpPr txBox="1"/>
          <p:nvPr/>
        </p:nvSpPr>
        <p:spPr>
          <a:xfrm>
            <a:off x="12483978" y="2241946"/>
            <a:ext cx="48440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ko-KR" altLang="en-US" sz="3200" b="1" dirty="0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기대 효과</a:t>
            </a:r>
            <a:endParaRPr lang="en-US" sz="3200" b="1" dirty="0">
              <a:solidFill>
                <a:srgbClr val="40404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2" name="TextBox 9">
            <a:extLst>
              <a:ext uri="{FF2B5EF4-FFF2-40B4-BE49-F238E27FC236}">
                <a16:creationId xmlns:a16="http://schemas.microsoft.com/office/drawing/2014/main" id="{C81020DA-6172-98A4-EAAF-BD22B2060213}"/>
              </a:ext>
            </a:extLst>
          </p:cNvPr>
          <p:cNvSpPr txBox="1"/>
          <p:nvPr/>
        </p:nvSpPr>
        <p:spPr>
          <a:xfrm>
            <a:off x="12511586" y="3407249"/>
            <a:ext cx="4816391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   </a:t>
            </a:r>
            <a:r>
              <a:rPr lang="en-US" sz="2700" b="1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소상</a:t>
            </a:r>
            <a:r>
              <a:rPr lang="en-US" sz="2700" b="1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공인</a:t>
            </a:r>
            <a:endParaRPr lang="en-US" sz="2700" b="1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Arimo Bold"/>
            </a:endParaRPr>
          </a:p>
        </p:txBody>
      </p:sp>
      <p:sp>
        <p:nvSpPr>
          <p:cNvPr id="43" name="TextBox 10">
            <a:extLst>
              <a:ext uri="{FF2B5EF4-FFF2-40B4-BE49-F238E27FC236}">
                <a16:creationId xmlns:a16="http://schemas.microsoft.com/office/drawing/2014/main" id="{0346DC77-547B-6398-8D02-FC5FD589A58C}"/>
              </a:ext>
            </a:extLst>
          </p:cNvPr>
          <p:cNvSpPr txBox="1"/>
          <p:nvPr/>
        </p:nvSpPr>
        <p:spPr>
          <a:xfrm>
            <a:off x="12496800" y="3952089"/>
            <a:ext cx="6716712" cy="237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355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지역</a:t>
            </a:r>
            <a:r>
              <a:rPr lang="en-US" sz="20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경제</a:t>
            </a:r>
            <a:r>
              <a:rPr lang="en-US" sz="20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활성화</a:t>
            </a:r>
            <a:endParaRPr lang="en-US" sz="20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 Bold"/>
            </a:endParaRPr>
          </a:p>
          <a:p>
            <a:pPr marL="46355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선제적</a:t>
            </a:r>
            <a:r>
              <a:rPr lang="en-US" sz="20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위기</a:t>
            </a:r>
            <a:r>
              <a:rPr lang="en-US" sz="20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대응</a:t>
            </a:r>
            <a:endParaRPr lang="en-US" sz="20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Arimo"/>
            </a:endParaRPr>
          </a:p>
          <a:p>
            <a:pPr marL="46355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맞춤형</a:t>
            </a:r>
            <a:r>
              <a:rPr lang="en-US" sz="20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컨설팅</a:t>
            </a:r>
            <a:endParaRPr lang="en-US" sz="20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"/>
            </a:endParaRPr>
          </a:p>
          <a:p>
            <a:pPr marL="241300" lvl="1" indent="-120650" algn="just">
              <a:lnSpc>
                <a:spcPct val="200000"/>
              </a:lnSpc>
            </a:pPr>
            <a:endParaRPr lang="en-US" sz="20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"/>
            </a:endParaRPr>
          </a:p>
        </p:txBody>
      </p:sp>
      <p:sp>
        <p:nvSpPr>
          <p:cNvPr id="44" name="TextBox 12">
            <a:extLst>
              <a:ext uri="{FF2B5EF4-FFF2-40B4-BE49-F238E27FC236}">
                <a16:creationId xmlns:a16="http://schemas.microsoft.com/office/drawing/2014/main" id="{EAFDC6D3-7897-E7A1-BA7B-8393265CD8BA}"/>
              </a:ext>
            </a:extLst>
          </p:cNvPr>
          <p:cNvSpPr txBox="1"/>
          <p:nvPr/>
        </p:nvSpPr>
        <p:spPr>
          <a:xfrm>
            <a:off x="12485503" y="6051105"/>
            <a:ext cx="4844001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   </a:t>
            </a:r>
            <a:r>
              <a:rPr lang="en-US" sz="2700" b="1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Arimo Bold"/>
              </a:rPr>
              <a:t>카드사</a:t>
            </a:r>
            <a:endParaRPr lang="en-US" sz="2700" b="1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Arimo Bold"/>
            </a:endParaRPr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736EC5FF-F5A0-7B76-C539-1CC2AC0726DF}"/>
              </a:ext>
            </a:extLst>
          </p:cNvPr>
          <p:cNvSpPr txBox="1"/>
          <p:nvPr/>
        </p:nvSpPr>
        <p:spPr>
          <a:xfrm>
            <a:off x="12496800" y="6551307"/>
            <a:ext cx="6716712" cy="2373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148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핵심</a:t>
            </a:r>
            <a:r>
              <a:rPr lang="en-US" sz="20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수익</a:t>
            </a:r>
            <a:r>
              <a:rPr lang="en-US" sz="20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기반</a:t>
            </a:r>
            <a:r>
              <a:rPr lang="en-US" sz="20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보호</a:t>
            </a:r>
            <a:endParaRPr lang="en-US" sz="20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"/>
            </a:endParaRPr>
          </a:p>
          <a:p>
            <a:pPr marL="45148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가맹점</a:t>
            </a:r>
            <a:r>
              <a:rPr lang="en-US" sz="20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리스크</a:t>
            </a:r>
            <a:r>
              <a:rPr lang="en-US" sz="20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관리</a:t>
            </a:r>
            <a:endParaRPr lang="en-US" sz="20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 Bold"/>
            </a:endParaRPr>
          </a:p>
          <a:p>
            <a:pPr marL="45148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차별화된</a:t>
            </a:r>
            <a:r>
              <a:rPr lang="en-US" sz="20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파트너십</a:t>
            </a:r>
            <a:endParaRPr lang="en-US" sz="20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"/>
            </a:endParaRPr>
          </a:p>
          <a:p>
            <a:pPr marL="45148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맞춤형</a:t>
            </a:r>
            <a:r>
              <a:rPr lang="en-US" sz="20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금융상품</a:t>
            </a:r>
            <a:r>
              <a:rPr lang="en-US" sz="20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연계</a:t>
            </a:r>
            <a:endParaRPr lang="en-US" sz="20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"/>
            </a:endParaRPr>
          </a:p>
        </p:txBody>
      </p:sp>
      <p:sp>
        <p:nvSpPr>
          <p:cNvPr id="46" name="TextBox 16">
            <a:extLst>
              <a:ext uri="{FF2B5EF4-FFF2-40B4-BE49-F238E27FC236}">
                <a16:creationId xmlns:a16="http://schemas.microsoft.com/office/drawing/2014/main" id="{9C7E8F41-BFF4-CCC0-F5A7-6FBD80C04091}"/>
              </a:ext>
            </a:extLst>
          </p:cNvPr>
          <p:cNvSpPr txBox="1"/>
          <p:nvPr/>
        </p:nvSpPr>
        <p:spPr>
          <a:xfrm>
            <a:off x="6741393" y="2227971"/>
            <a:ext cx="480524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ko-KR" altLang="en-US" sz="3200" b="1" dirty="0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경보 시스템</a:t>
            </a:r>
            <a:endParaRPr lang="en-US" sz="3200" b="1" dirty="0">
              <a:solidFill>
                <a:srgbClr val="40404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0AB1A5-38FD-2834-3C00-51840F8E942C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개요   데이터 분석 및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</a:rPr>
              <a:t>전처리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조기 경보 시스템   </a:t>
            </a:r>
            <a:r>
              <a:rPr lang="ko-KR" altLang="en-US" sz="1600" b="1" dirty="0"/>
              <a:t>결론 및 의의</a:t>
            </a:r>
          </a:p>
        </p:txBody>
      </p:sp>
    </p:spTree>
    <p:extLst>
      <p:ext uri="{BB962C8B-B14F-4D97-AF65-F5344CB8AC3E}">
        <p14:creationId xmlns:p14="http://schemas.microsoft.com/office/powerpoint/2010/main" val="2954042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B941ACA-45BB-CDB3-0D58-A4173E595469}"/>
              </a:ext>
            </a:extLst>
          </p:cNvPr>
          <p:cNvGrpSpPr/>
          <p:nvPr/>
        </p:nvGrpSpPr>
        <p:grpSpPr>
          <a:xfrm>
            <a:off x="742950" y="628650"/>
            <a:ext cx="1479519" cy="651415"/>
            <a:chOff x="0" y="0"/>
            <a:chExt cx="1972692" cy="86855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3EC8B16-DE39-80BE-EF5B-F8F9CF254D7F}"/>
                </a:ext>
              </a:extLst>
            </p:cNvPr>
            <p:cNvSpPr/>
            <p:nvPr/>
          </p:nvSpPr>
          <p:spPr>
            <a:xfrm>
              <a:off x="0" y="0"/>
              <a:ext cx="1972691" cy="868553"/>
            </a:xfrm>
            <a:custGeom>
              <a:avLst/>
              <a:gdLst/>
              <a:ahLst/>
              <a:cxnLst/>
              <a:rect l="l" t="t" r="r" b="b"/>
              <a:pathLst>
                <a:path w="1972691" h="868553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1650746" y="0"/>
                  </a:lnTo>
                  <a:cubicBezTo>
                    <a:pt x="1828546" y="0"/>
                    <a:pt x="1972691" y="144145"/>
                    <a:pt x="1972691" y="321945"/>
                  </a:cubicBezTo>
                  <a:lnTo>
                    <a:pt x="1972691" y="546481"/>
                  </a:lnTo>
                  <a:cubicBezTo>
                    <a:pt x="1972691" y="724281"/>
                    <a:pt x="1828546" y="868426"/>
                    <a:pt x="1650746" y="868426"/>
                  </a:cubicBezTo>
                  <a:lnTo>
                    <a:pt x="321945" y="868426"/>
                  </a:lnTo>
                  <a:cubicBezTo>
                    <a:pt x="144145" y="868553"/>
                    <a:pt x="0" y="724408"/>
                    <a:pt x="0" y="5464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E2910A2D-6168-5434-6786-A55F1B6743C2}"/>
              </a:ext>
            </a:extLst>
          </p:cNvPr>
          <p:cNvSpPr txBox="1"/>
          <p:nvPr/>
        </p:nvSpPr>
        <p:spPr>
          <a:xfrm>
            <a:off x="1061766" y="750183"/>
            <a:ext cx="841920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A13CEFC-17E4-AD73-875C-E94F38AB544F}"/>
              </a:ext>
            </a:extLst>
          </p:cNvPr>
          <p:cNvSpPr txBox="1"/>
          <p:nvPr/>
        </p:nvSpPr>
        <p:spPr>
          <a:xfrm>
            <a:off x="2737149" y="661882"/>
            <a:ext cx="838805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ko-KR" altLang="en-US" sz="3000" b="1" spc="9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의의</a:t>
            </a:r>
            <a:endParaRPr lang="en-US" sz="3000" b="1" spc="9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F294BBDC-CE4E-D6E5-120F-795D3198317A}"/>
              </a:ext>
            </a:extLst>
          </p:cNvPr>
          <p:cNvSpPr/>
          <p:nvPr/>
        </p:nvSpPr>
        <p:spPr>
          <a:xfrm rot="5395410">
            <a:off x="5576420" y="5452946"/>
            <a:ext cx="713516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8C67C3C6-6CE0-66D1-A7BC-9817C08BB9B6}"/>
              </a:ext>
            </a:extLst>
          </p:cNvPr>
          <p:cNvGrpSpPr/>
          <p:nvPr/>
        </p:nvGrpSpPr>
        <p:grpSpPr>
          <a:xfrm>
            <a:off x="742950" y="1896877"/>
            <a:ext cx="7713222" cy="7135154"/>
            <a:chOff x="0" y="0"/>
            <a:chExt cx="10284296" cy="555640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8111AAE-188F-59DE-739A-EA0B5100911D}"/>
                </a:ext>
              </a:extLst>
            </p:cNvPr>
            <p:cNvSpPr/>
            <p:nvPr/>
          </p:nvSpPr>
          <p:spPr>
            <a:xfrm>
              <a:off x="12700" y="12700"/>
              <a:ext cx="10258933" cy="5530977"/>
            </a:xfrm>
            <a:custGeom>
              <a:avLst/>
              <a:gdLst/>
              <a:ahLst/>
              <a:cxnLst/>
              <a:rect l="l" t="t" r="r" b="b"/>
              <a:pathLst>
                <a:path w="10258933" h="5530977">
                  <a:moveTo>
                    <a:pt x="0" y="0"/>
                  </a:moveTo>
                  <a:lnTo>
                    <a:pt x="10258933" y="0"/>
                  </a:lnTo>
                  <a:lnTo>
                    <a:pt x="10258933" y="5530977"/>
                  </a:lnTo>
                  <a:lnTo>
                    <a:pt x="0" y="5530977"/>
                  </a:lnTo>
                  <a:close/>
                </a:path>
              </a:pathLst>
            </a:custGeom>
            <a:grpFill/>
          </p:spPr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59696B6-8DE7-6F06-6E83-8ED58C7B7D9C}"/>
                </a:ext>
              </a:extLst>
            </p:cNvPr>
            <p:cNvSpPr/>
            <p:nvPr/>
          </p:nvSpPr>
          <p:spPr>
            <a:xfrm>
              <a:off x="0" y="0"/>
              <a:ext cx="10284333" cy="5556377"/>
            </a:xfrm>
            <a:custGeom>
              <a:avLst/>
              <a:gdLst/>
              <a:ahLst/>
              <a:cxnLst/>
              <a:rect l="l" t="t" r="r" b="b"/>
              <a:pathLst>
                <a:path w="10284333" h="5556377">
                  <a:moveTo>
                    <a:pt x="12700" y="0"/>
                  </a:moveTo>
                  <a:lnTo>
                    <a:pt x="10271633" y="0"/>
                  </a:lnTo>
                  <a:cubicBezTo>
                    <a:pt x="10278618" y="0"/>
                    <a:pt x="10284333" y="5715"/>
                    <a:pt x="10284333" y="12700"/>
                  </a:cubicBezTo>
                  <a:lnTo>
                    <a:pt x="10284333" y="5543677"/>
                  </a:lnTo>
                  <a:cubicBezTo>
                    <a:pt x="10284333" y="5550662"/>
                    <a:pt x="10278618" y="5556377"/>
                    <a:pt x="10271633" y="5556377"/>
                  </a:cubicBezTo>
                  <a:lnTo>
                    <a:pt x="12700" y="5556377"/>
                  </a:lnTo>
                  <a:cubicBezTo>
                    <a:pt x="5715" y="5556377"/>
                    <a:pt x="0" y="5550662"/>
                    <a:pt x="0" y="554367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543677"/>
                  </a:lnTo>
                  <a:lnTo>
                    <a:pt x="12700" y="5543677"/>
                  </a:lnTo>
                  <a:lnTo>
                    <a:pt x="12700" y="5530977"/>
                  </a:lnTo>
                  <a:lnTo>
                    <a:pt x="10271633" y="5530977"/>
                  </a:lnTo>
                  <a:lnTo>
                    <a:pt x="10271633" y="5543677"/>
                  </a:lnTo>
                  <a:lnTo>
                    <a:pt x="10258933" y="5543677"/>
                  </a:lnTo>
                  <a:lnTo>
                    <a:pt x="10258933" y="12700"/>
                  </a:lnTo>
                  <a:lnTo>
                    <a:pt x="10271633" y="12700"/>
                  </a:lnTo>
                  <a:lnTo>
                    <a:pt x="10271633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</p:spPr>
        </p:sp>
      </p:grpSp>
      <p:grpSp>
        <p:nvGrpSpPr>
          <p:cNvPr id="10" name="Group 17">
            <a:extLst>
              <a:ext uri="{FF2B5EF4-FFF2-40B4-BE49-F238E27FC236}">
                <a16:creationId xmlns:a16="http://schemas.microsoft.com/office/drawing/2014/main" id="{2B0DFE36-AA8B-2E13-A90C-98C3B14C5C96}"/>
              </a:ext>
            </a:extLst>
          </p:cNvPr>
          <p:cNvGrpSpPr/>
          <p:nvPr/>
        </p:nvGrpSpPr>
        <p:grpSpPr>
          <a:xfrm>
            <a:off x="9877425" y="1880606"/>
            <a:ext cx="7713222" cy="7118811"/>
            <a:chOff x="0" y="0"/>
            <a:chExt cx="10284296" cy="5556404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BB1ABBEF-A305-F960-29D3-356A6C2B6AEC}"/>
                </a:ext>
              </a:extLst>
            </p:cNvPr>
            <p:cNvSpPr/>
            <p:nvPr/>
          </p:nvSpPr>
          <p:spPr>
            <a:xfrm>
              <a:off x="12700" y="12700"/>
              <a:ext cx="10258933" cy="5530977"/>
            </a:xfrm>
            <a:custGeom>
              <a:avLst/>
              <a:gdLst/>
              <a:ahLst/>
              <a:cxnLst/>
              <a:rect l="l" t="t" r="r" b="b"/>
              <a:pathLst>
                <a:path w="10258933" h="5530977">
                  <a:moveTo>
                    <a:pt x="0" y="0"/>
                  </a:moveTo>
                  <a:lnTo>
                    <a:pt x="10258933" y="0"/>
                  </a:lnTo>
                  <a:lnTo>
                    <a:pt x="10258933" y="5530977"/>
                  </a:lnTo>
                  <a:lnTo>
                    <a:pt x="0" y="5530977"/>
                  </a:lnTo>
                  <a:close/>
                </a:path>
              </a:pathLst>
            </a:custGeom>
            <a:grpFill/>
          </p:spPr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2773082F-B4D7-6997-2404-40D6444925C0}"/>
                </a:ext>
              </a:extLst>
            </p:cNvPr>
            <p:cNvSpPr/>
            <p:nvPr/>
          </p:nvSpPr>
          <p:spPr>
            <a:xfrm>
              <a:off x="0" y="0"/>
              <a:ext cx="10284333" cy="5556377"/>
            </a:xfrm>
            <a:custGeom>
              <a:avLst/>
              <a:gdLst/>
              <a:ahLst/>
              <a:cxnLst/>
              <a:rect l="l" t="t" r="r" b="b"/>
              <a:pathLst>
                <a:path w="10284333" h="5556377">
                  <a:moveTo>
                    <a:pt x="12700" y="0"/>
                  </a:moveTo>
                  <a:lnTo>
                    <a:pt x="10271633" y="0"/>
                  </a:lnTo>
                  <a:cubicBezTo>
                    <a:pt x="10278618" y="0"/>
                    <a:pt x="10284333" y="5715"/>
                    <a:pt x="10284333" y="12700"/>
                  </a:cubicBezTo>
                  <a:lnTo>
                    <a:pt x="10284333" y="5543677"/>
                  </a:lnTo>
                  <a:cubicBezTo>
                    <a:pt x="10284333" y="5550662"/>
                    <a:pt x="10278618" y="5556377"/>
                    <a:pt x="10271633" y="5556377"/>
                  </a:cubicBezTo>
                  <a:lnTo>
                    <a:pt x="12700" y="5556377"/>
                  </a:lnTo>
                  <a:cubicBezTo>
                    <a:pt x="5715" y="5556377"/>
                    <a:pt x="0" y="5550662"/>
                    <a:pt x="0" y="554367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543677"/>
                  </a:lnTo>
                  <a:lnTo>
                    <a:pt x="12700" y="5543677"/>
                  </a:lnTo>
                  <a:lnTo>
                    <a:pt x="12700" y="5530977"/>
                  </a:lnTo>
                  <a:lnTo>
                    <a:pt x="10271633" y="5530977"/>
                  </a:lnTo>
                  <a:lnTo>
                    <a:pt x="10271633" y="5543677"/>
                  </a:lnTo>
                  <a:lnTo>
                    <a:pt x="10258933" y="5543677"/>
                  </a:lnTo>
                  <a:lnTo>
                    <a:pt x="10258933" y="12700"/>
                  </a:lnTo>
                  <a:lnTo>
                    <a:pt x="10271633" y="12700"/>
                  </a:lnTo>
                  <a:lnTo>
                    <a:pt x="10271633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</p:spPr>
        </p:sp>
      </p:grpSp>
      <p:sp>
        <p:nvSpPr>
          <p:cNvPr id="15" name="TextBox 13">
            <a:extLst>
              <a:ext uri="{FF2B5EF4-FFF2-40B4-BE49-F238E27FC236}">
                <a16:creationId xmlns:a16="http://schemas.microsoft.com/office/drawing/2014/main" id="{FA3DF3C9-87D6-3751-B921-55BF78C6A299}"/>
              </a:ext>
            </a:extLst>
          </p:cNvPr>
          <p:cNvSpPr txBox="1"/>
          <p:nvPr/>
        </p:nvSpPr>
        <p:spPr>
          <a:xfrm>
            <a:off x="9886950" y="1845515"/>
            <a:ext cx="12121851" cy="7260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8585" lvl="1" algn="just">
              <a:lnSpc>
                <a:spcPct val="200000"/>
              </a:lnSpc>
            </a:pPr>
            <a:r>
              <a:rPr lang="ko-KR" altLang="en-US" sz="3000" b="1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비즈니스</a:t>
            </a:r>
            <a:r>
              <a:rPr lang="en-US" altLang="ko-KR" sz="3000" b="1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·</a:t>
            </a:r>
            <a:r>
              <a:rPr lang="ko-KR" altLang="en-US" sz="3000" b="1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사회적 의의 </a:t>
            </a:r>
            <a:endParaRPr lang="en-US" altLang="ko-KR" sz="3000" b="1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 Bold"/>
            </a:endParaRPr>
          </a:p>
          <a:p>
            <a:pPr marL="108585" lvl="1" algn="just">
              <a:lnSpc>
                <a:spcPct val="200000"/>
              </a:lnSpc>
            </a:pPr>
            <a:r>
              <a:rPr lang="en-US" altLang="ko-KR" sz="2700" b="1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For Merchant</a:t>
            </a:r>
          </a:p>
          <a:p>
            <a:pPr marL="108585" lvl="1" algn="just">
              <a:lnSpc>
                <a:spcPct val="150000"/>
              </a:lnSpc>
            </a:pPr>
            <a:r>
              <a:rPr lang="en-US" altLang="ko-KR" sz="2400" b="1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	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가맹점주의 의사결정 방식을 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'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경험과 감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’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에서 </a:t>
            </a:r>
            <a:endParaRPr lang="en-US" altLang="ko-KR" sz="24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 Bold"/>
            </a:endParaRPr>
          </a:p>
          <a:p>
            <a:pPr marL="108585" lvl="1" algn="just">
              <a:lnSpc>
                <a:spcPct val="15000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	'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데이터 기반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'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으로 전환</a:t>
            </a:r>
            <a:endParaRPr lang="en-US" altLang="ko-KR" sz="24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 Bold"/>
            </a:endParaRPr>
          </a:p>
          <a:p>
            <a:pPr marL="108585" lvl="1" algn="just">
              <a:lnSpc>
                <a:spcPct val="200000"/>
              </a:lnSpc>
            </a:pPr>
            <a:r>
              <a:rPr lang="en-US" altLang="ko-KR" sz="2700" b="1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For Card Co.</a:t>
            </a:r>
          </a:p>
          <a:p>
            <a:pPr marL="108585" lvl="1" algn="just">
              <a:lnSpc>
                <a:spcPct val="150000"/>
              </a:lnSpc>
            </a:pPr>
            <a:r>
              <a:rPr lang="en-US" altLang="ko-KR" sz="2400" b="1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	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카드사와 가맹점의 관계를 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'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결제 대행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'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이 아닌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, </a:t>
            </a:r>
          </a:p>
          <a:p>
            <a:pPr marL="108585" lvl="1" algn="just">
              <a:lnSpc>
                <a:spcPct val="15000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	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성장을 함께하는 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'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비즈니스 파트너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' 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로 상생 </a:t>
            </a:r>
            <a:endParaRPr lang="en-US" altLang="ko-KR" sz="24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 Bold"/>
            </a:endParaRPr>
          </a:p>
          <a:p>
            <a:pPr marL="108585" lvl="1" algn="just">
              <a:lnSpc>
                <a:spcPct val="200000"/>
              </a:lnSpc>
            </a:pPr>
            <a:r>
              <a:rPr lang="en-US" altLang="ko-KR" sz="2700" b="1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For Society</a:t>
            </a:r>
          </a:p>
          <a:p>
            <a:pPr marL="108585" lvl="1" algn="just">
              <a:lnSpc>
                <a:spcPct val="150000"/>
              </a:lnSpc>
            </a:pPr>
            <a:r>
              <a:rPr lang="en-US" altLang="ko-KR" sz="2400" b="1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	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건강한 상권 생태계를 조성하여 </a:t>
            </a:r>
            <a:endParaRPr lang="en-US" altLang="ko-KR" sz="24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 Bold"/>
            </a:endParaRPr>
          </a:p>
          <a:p>
            <a:pPr marL="108585" lvl="1" algn="just">
              <a:lnSpc>
                <a:spcPct val="15000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	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데이터의 선한 영향력을 실현</a:t>
            </a:r>
            <a:endParaRPr lang="en-US" altLang="ko-KR" sz="24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"/>
            </a:endParaRPr>
          </a:p>
          <a:p>
            <a:pPr marL="217170" lvl="1" indent="-108585" algn="just">
              <a:lnSpc>
                <a:spcPct val="200000"/>
              </a:lnSpc>
              <a:buFont typeface="Arial"/>
              <a:buChar char="•"/>
            </a:pPr>
            <a:endParaRPr lang="en-US" sz="20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298A348B-E7E4-BE31-7017-DBF0CFAFE417}"/>
              </a:ext>
            </a:extLst>
          </p:cNvPr>
          <p:cNvSpPr txBox="1"/>
          <p:nvPr/>
        </p:nvSpPr>
        <p:spPr>
          <a:xfrm>
            <a:off x="742950" y="1845515"/>
            <a:ext cx="12121851" cy="65601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8585" lvl="1" algn="just">
              <a:lnSpc>
                <a:spcPct val="200000"/>
              </a:lnSpc>
            </a:pPr>
            <a:r>
              <a:rPr lang="ko-KR" altLang="en-US" sz="3000" b="1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기술적 의의 </a:t>
            </a:r>
            <a:endParaRPr lang="en-US" altLang="ko-KR" sz="3000" b="1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 Bold"/>
            </a:endParaRPr>
          </a:p>
          <a:p>
            <a:pPr marL="45148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능동적이고 자율적인 조기 경보 시스템인</a:t>
            </a:r>
            <a:endParaRPr lang="en-US" altLang="ko-KR" sz="24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 Bold"/>
            </a:endParaRPr>
          </a:p>
          <a:p>
            <a:pPr marL="108585" lvl="1" algn="just">
              <a:lnSpc>
                <a:spcPct val="20000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     ‘</a:t>
            </a:r>
            <a:r>
              <a:rPr lang="ko-KR" altLang="en-US" sz="2400" b="1" dirty="0"/>
              <a:t>자율형 컨설팅 </a:t>
            </a:r>
            <a:r>
              <a:rPr lang="en-US" altLang="ko-KR" sz="2400" b="1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AI Agent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’</a:t>
            </a:r>
            <a:r>
              <a:rPr lang="en-US" altLang="ko-KR" sz="2400" b="1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제시</a:t>
            </a:r>
            <a:endParaRPr lang="en-US" altLang="ko-KR" sz="24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 Bold"/>
            </a:endParaRPr>
          </a:p>
          <a:p>
            <a:pPr marL="108585" lvl="1" algn="just">
              <a:lnSpc>
                <a:spcPct val="200000"/>
              </a:lnSpc>
            </a:pPr>
            <a:endParaRPr lang="en-US" altLang="ko-KR" sz="14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 Bold"/>
            </a:endParaRPr>
          </a:p>
          <a:p>
            <a:pPr marL="45148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과거의 경험이 아닌 미래의 상황을 학습 및 예측</a:t>
            </a:r>
            <a:endParaRPr lang="en-US" altLang="ko-KR" sz="24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 Bold"/>
            </a:endParaRPr>
          </a:p>
          <a:p>
            <a:pPr marL="45148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 Bold"/>
            </a:endParaRPr>
          </a:p>
          <a:p>
            <a:pPr marL="45148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'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왜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(Why)' 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위험한지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,'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무엇을</a:t>
            </a: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(What)' 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해야 하는지</a:t>
            </a:r>
            <a:endParaRPr lang="en-US" altLang="ko-KR" sz="24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 Bold"/>
            </a:endParaRPr>
          </a:p>
          <a:p>
            <a:pPr marL="108585" lvl="1" algn="just">
              <a:lnSpc>
                <a:spcPct val="20000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    </a:t>
            </a:r>
            <a:r>
              <a:rPr lang="ko-KR" altLang="en-US" sz="2400" dirty="0">
                <a:solidFill>
                  <a:srgbClr val="000000"/>
                </a:solidFill>
                <a:latin typeface="Arimo" panose="020B0600000101010101" charset="0"/>
                <a:ea typeface="Arimo" panose="020B0600000101010101" charset="0"/>
                <a:cs typeface="Arimo" panose="020B0600000101010101" charset="0"/>
                <a:sym typeface="Calibri (MS) Bold"/>
              </a:rPr>
              <a:t>구체적인 솔루션 제시</a:t>
            </a:r>
            <a:endParaRPr lang="en-US" altLang="ko-KR" sz="24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 Bold"/>
            </a:endParaRPr>
          </a:p>
          <a:p>
            <a:pPr marL="108585" lvl="1" algn="just">
              <a:lnSpc>
                <a:spcPct val="150000"/>
              </a:lnSpc>
            </a:pPr>
            <a:endParaRPr lang="en-US" altLang="ko-KR" sz="24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 Bold"/>
            </a:endParaRPr>
          </a:p>
          <a:p>
            <a:pPr marL="45148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Arimo" panose="020B0600000101010101" charset="0"/>
              <a:ea typeface="Arimo" panose="020B0600000101010101" charset="0"/>
              <a:cs typeface="Arimo" panose="020B0600000101010101" charset="0"/>
              <a:sym typeface="Calibri (MS)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AFA290-93D1-21D8-B553-AA681D0FEE08}"/>
              </a:ext>
            </a:extLst>
          </p:cNvPr>
          <p:cNvSpPr txBox="1"/>
          <p:nvPr/>
        </p:nvSpPr>
        <p:spPr>
          <a:xfrm>
            <a:off x="12649200" y="83138"/>
            <a:ext cx="739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개요   데이터 분석 및 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</a:rPr>
              <a:t>전처리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  조기 경보 시스템   </a:t>
            </a:r>
            <a:r>
              <a:rPr lang="ko-KR" altLang="en-US" sz="1600" b="1" dirty="0"/>
              <a:t>결론 및 의의</a:t>
            </a:r>
          </a:p>
        </p:txBody>
      </p:sp>
    </p:spTree>
    <p:extLst>
      <p:ext uri="{BB962C8B-B14F-4D97-AF65-F5344CB8AC3E}">
        <p14:creationId xmlns:p14="http://schemas.microsoft.com/office/powerpoint/2010/main" val="375120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63460" y="4451927"/>
            <a:ext cx="936107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1" spc="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이상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81741" y="5366365"/>
            <a:ext cx="4924517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1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Team </a:t>
            </a:r>
            <a:r>
              <a:rPr lang="en-US" sz="31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데이터</a:t>
            </a:r>
            <a:r>
              <a:rPr lang="en-US" sz="31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맛집</a:t>
            </a:r>
            <a:r>
              <a:rPr lang="en-US" sz="31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였습니다</a:t>
            </a:r>
            <a:endParaRPr lang="en-US" sz="3199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1872</Words>
  <Application>Microsoft Office PowerPoint</Application>
  <PresentationFormat>사용자 지정</PresentationFormat>
  <Paragraphs>368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Arimo</vt:lpstr>
      <vt:lpstr>Arimo Bold</vt:lpstr>
      <vt:lpstr>Calibri (MS)</vt:lpstr>
      <vt:lpstr>Calibri (MS) Bold</vt:lpstr>
      <vt:lpstr>Pretendard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251024_bigcontest.pptx</dc:title>
  <cp:lastModifiedBy>Jong Seok Lee</cp:lastModifiedBy>
  <cp:revision>53</cp:revision>
  <dcterms:created xsi:type="dcterms:W3CDTF">2006-08-16T00:00:00Z</dcterms:created>
  <dcterms:modified xsi:type="dcterms:W3CDTF">2025-10-24T08:30:51Z</dcterms:modified>
  <dc:identifier>DAG2USytVqU</dc:identifier>
</cp:coreProperties>
</file>